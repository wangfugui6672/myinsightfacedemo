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a9fffcbb049f7" /><Relationship Type="http://schemas.openxmlformats.org/officeDocument/2006/relationships/extended-properties" Target="/docProps/app.xml" Id="R8e83ce4249d34504" /><Relationship Type="http://schemas.openxmlformats.org/officeDocument/2006/relationships/officeDocument" Target="/ppt/presentation.xml" Id="R123d031de184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f5b7aaf3d4862"/>
  </p:sldMasterIdLst>
  <p:notesMasterIdLst>
    <p:notesMasterId xmlns:r="http://schemas.openxmlformats.org/officeDocument/2006/relationships" r:id="Rbc5b20285f6b4e04"/>
  </p:notesMasterIdLst>
  <p:sldIdLst>
    <p:sldId xmlns:r="http://schemas.openxmlformats.org/officeDocument/2006/relationships" id="256" r:id="Ra38e8db8392a4859"/>
    <p:sldId xmlns:r="http://schemas.openxmlformats.org/officeDocument/2006/relationships" id="257" r:id="R15de48e1e0ac43ca"/>
    <p:sldId xmlns:r="http://schemas.openxmlformats.org/officeDocument/2006/relationships" id="258" r:id="R5327fdca68f54feb"/>
    <p:sldId xmlns:r="http://schemas.openxmlformats.org/officeDocument/2006/relationships" id="259" r:id="R2f134fe4106d42f3"/>
    <p:sldId xmlns:r="http://schemas.openxmlformats.org/officeDocument/2006/relationships" id="260" r:id="Rde9063d72ef04dfc"/>
    <p:sldId xmlns:r="http://schemas.openxmlformats.org/officeDocument/2006/relationships" id="261" r:id="Rb2d32f53545f4abc"/>
    <p:sldId xmlns:r="http://schemas.openxmlformats.org/officeDocument/2006/relationships" id="262" r:id="Rbddc88652b6a45b1"/>
    <p:sldId xmlns:r="http://schemas.openxmlformats.org/officeDocument/2006/relationships" id="263" r:id="Rbd0a4dc8ec8f49ac"/>
    <p:sldId xmlns:r="http://schemas.openxmlformats.org/officeDocument/2006/relationships" id="264" r:id="Rb852e33fa61545b7"/>
    <p:sldId xmlns:r="http://schemas.openxmlformats.org/officeDocument/2006/relationships" id="265" r:id="R25651e24ff014c37"/>
    <p:sldId xmlns:r="http://schemas.openxmlformats.org/officeDocument/2006/relationships" id="266" r:id="Ree75647f5dc94c4b"/>
    <p:sldId xmlns:r="http://schemas.openxmlformats.org/officeDocument/2006/relationships" id="267" r:id="R183e4c2a904a4f6a"/>
    <p:sldId xmlns:r="http://schemas.openxmlformats.org/officeDocument/2006/relationships" id="268" r:id="R8f41a69123b9421c"/>
    <p:sldId xmlns:r="http://schemas.openxmlformats.org/officeDocument/2006/relationships" id="269" r:id="R7667b150925943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38b8309225455a" /><Relationship Type="http://schemas.openxmlformats.org/officeDocument/2006/relationships/slideMaster" Target="/ppt/slideMasters/slideMaster1.xml" Id="Rd05f5b7aaf3d4862" /><Relationship Type="http://schemas.openxmlformats.org/officeDocument/2006/relationships/notesMaster" Target="/ppt/notesMasters/notesMaster1.xml" Id="Rbc5b20285f6b4e04" /><Relationship Type="http://schemas.openxmlformats.org/officeDocument/2006/relationships/presProps" Target="/ppt/presProps.xml" Id="R81bbfd21ebea4528" /><Relationship Type="http://schemas.openxmlformats.org/officeDocument/2006/relationships/viewProps" Target="/ppt/viewProps.xml" Id="R68d6abaa88124e05" /><Relationship Type="http://schemas.openxmlformats.org/officeDocument/2006/relationships/tableStyles" Target="/ppt/tableStyles.xml" Id="Rd4b13b9becba4cca" /><Relationship Type="http://schemas.openxmlformats.org/officeDocument/2006/relationships/slide" Target="/ppt/slides/slide1.xml" Id="Ra38e8db8392a4859" /><Relationship Type="http://schemas.openxmlformats.org/officeDocument/2006/relationships/slide" Target="/ppt/slides/slide2.xml" Id="R15de48e1e0ac43ca" /><Relationship Type="http://schemas.openxmlformats.org/officeDocument/2006/relationships/slide" Target="/ppt/slides/slide3.xml" Id="R5327fdca68f54feb" /><Relationship Type="http://schemas.openxmlformats.org/officeDocument/2006/relationships/slide" Target="/ppt/slides/slide4.xml" Id="R2f134fe4106d42f3" /><Relationship Type="http://schemas.openxmlformats.org/officeDocument/2006/relationships/slide" Target="/ppt/slides/slide5.xml" Id="Rde9063d72ef04dfc" /><Relationship Type="http://schemas.openxmlformats.org/officeDocument/2006/relationships/slide" Target="/ppt/slides/slide6.xml" Id="Rb2d32f53545f4abc" /><Relationship Type="http://schemas.openxmlformats.org/officeDocument/2006/relationships/slide" Target="/ppt/slides/slide7.xml" Id="Rbddc88652b6a45b1" /><Relationship Type="http://schemas.openxmlformats.org/officeDocument/2006/relationships/slide" Target="/ppt/slides/slide8.xml" Id="Rbd0a4dc8ec8f49ac" /><Relationship Type="http://schemas.openxmlformats.org/officeDocument/2006/relationships/slide" Target="/ppt/slides/slide9.xml" Id="Rb852e33fa61545b7" /><Relationship Type="http://schemas.openxmlformats.org/officeDocument/2006/relationships/slide" Target="/ppt/slides/slide10.xml" Id="R25651e24ff014c37" /><Relationship Type="http://schemas.openxmlformats.org/officeDocument/2006/relationships/slide" Target="/ppt/slides/slide11.xml" Id="Ree75647f5dc94c4b" /><Relationship Type="http://schemas.openxmlformats.org/officeDocument/2006/relationships/slide" Target="/ppt/slides/slide12.xml" Id="R183e4c2a904a4f6a" /><Relationship Type="http://schemas.openxmlformats.org/officeDocument/2006/relationships/slide" Target="/ppt/slides/slide13.xml" Id="R8f41a69123b9421c" /><Relationship Type="http://schemas.openxmlformats.org/officeDocument/2006/relationships/slide" Target="/ppt/slides/slide14.xml" Id="R7667b1509259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665a087e04a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1cdf48e7648a1" /><Relationship Type="http://schemas.openxmlformats.org/officeDocument/2006/relationships/notesMaster" Target="/ppt/notesMasters/notesMaster1.xml" Id="R28c8e6250c47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14b6c84b44a90" /><Relationship Type="http://schemas.openxmlformats.org/officeDocument/2006/relationships/notesMaster" Target="/ppt/notesMasters/notesMaster1.xml" Id="R2f9464e2186640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0ffcb841c4ae8" /><Relationship Type="http://schemas.openxmlformats.org/officeDocument/2006/relationships/notesMaster" Target="/ppt/notesMasters/notesMaster1.xml" Id="R8f74327bdedf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3de1b8f8ac404b" /><Relationship Type="http://schemas.openxmlformats.org/officeDocument/2006/relationships/notesMaster" Target="/ppt/notesMasters/notesMaster1.xml" Id="R675120f3a5d8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d9e2de1e1f4d9b" /><Relationship Type="http://schemas.openxmlformats.org/officeDocument/2006/relationships/notesMaster" Target="/ppt/notesMasters/notesMaster1.xml" Id="R3cd50a08a8d14e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8a475db459487b" /><Relationship Type="http://schemas.openxmlformats.org/officeDocument/2006/relationships/notesMaster" Target="/ppt/notesMasters/notesMaster1.xml" Id="Rf4419d77781f41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881c0327b432e" /><Relationship Type="http://schemas.openxmlformats.org/officeDocument/2006/relationships/notesMaster" Target="/ppt/notesMasters/notesMaster1.xml" Id="Ra1a90f3eb27941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11a70579e04788" /><Relationship Type="http://schemas.openxmlformats.org/officeDocument/2006/relationships/notesMaster" Target="/ppt/notesMasters/notesMaster1.xml" Id="Ref69a19dc41f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99f5bc2f84397" /><Relationship Type="http://schemas.openxmlformats.org/officeDocument/2006/relationships/notesMaster" Target="/ppt/notesMasters/notesMaster1.xml" Id="R56392fbedfa34b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b69a2b30b54d6a" /><Relationship Type="http://schemas.openxmlformats.org/officeDocument/2006/relationships/notesMaster" Target="/ppt/notesMasters/notesMaster1.xml" Id="R0b3199c041e849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8303b8ba734797" /><Relationship Type="http://schemas.openxmlformats.org/officeDocument/2006/relationships/notesMaster" Target="/ppt/notesMasters/notesMaster1.xml" Id="R26d7d031514a41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6538fde0148ad" /><Relationship Type="http://schemas.openxmlformats.org/officeDocument/2006/relationships/notesMaster" Target="/ppt/notesMasters/notesMaster1.xml" Id="Raa2cae71fde040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2cd193c66b43ee" /><Relationship Type="http://schemas.openxmlformats.org/officeDocument/2006/relationships/notesMaster" Target="/ppt/notesMasters/notesMaster1.xml" Id="R19fc1383f6ba40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5be25f48a34f55" /><Relationship Type="http://schemas.openxmlformats.org/officeDocument/2006/relationships/notesMaster" Target="/ppt/notesMasters/notesMaster1.xml" Id="R7f94779eaa70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4d9718c234f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ff1d253df946b1" /><Relationship Type="http://schemas.openxmlformats.org/officeDocument/2006/relationships/slideLayout" Target="/ppt/slideLayouts/slideLayout1.xml" Id="R8285d45159a0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5d45159a0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2bd506dd4126" /><Relationship Type="http://schemas.openxmlformats.org/officeDocument/2006/relationships/notesSlide" Target="/ppt/notesSlides/notesSlide1.xml" Id="R3d7904f9a7ab44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abbc9d4e64d5e" /><Relationship Type="http://schemas.openxmlformats.org/officeDocument/2006/relationships/notesSlide" Target="/ppt/notesSlides/notesSlide2.xml" Id="R5b44b0530c3b45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be613429c4c53" /><Relationship Type="http://schemas.openxmlformats.org/officeDocument/2006/relationships/notesSlide" Target="/ppt/notesSlides/notesSlide3.xml" Id="R2b8dbe91e1e9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4b152200c40e6" /><Relationship Type="http://schemas.openxmlformats.org/officeDocument/2006/relationships/notesSlide" Target="/ppt/notesSlides/notesSlide4.xml" Id="Rb29b177591ad40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8755f157241fb" /><Relationship Type="http://schemas.openxmlformats.org/officeDocument/2006/relationships/notesSlide" Target="/ppt/notesSlides/notesSlide5.xml" Id="R4d4cd9557352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c477bce3647df" /><Relationship Type="http://schemas.openxmlformats.org/officeDocument/2006/relationships/notesSlide" Target="/ppt/notesSlides/notesSlide6.xml" Id="R22afd3c4122d41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46055fe404d5c" /><Relationship Type="http://schemas.openxmlformats.org/officeDocument/2006/relationships/notesSlide" Target="/ppt/notesSlides/notesSlide7.xml" Id="R3852527c2bd7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4aa5705664f47" /><Relationship Type="http://schemas.openxmlformats.org/officeDocument/2006/relationships/notesSlide" Target="/ppt/notesSlides/notesSlide8.xml" Id="R273a832c16d5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d0e22484a4fd7" /><Relationship Type="http://schemas.openxmlformats.org/officeDocument/2006/relationships/notesSlide" Target="/ppt/notesSlides/notesSlide9.xml" Id="R2961a993dcdb44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8c346c0a244ca" /><Relationship Type="http://schemas.openxmlformats.org/officeDocument/2006/relationships/notesSlide" Target="/ppt/notesSlides/notesSlide10.xml" Id="R160ab3c103204c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74d0bb6345ae" /><Relationship Type="http://schemas.openxmlformats.org/officeDocument/2006/relationships/notesSlide" Target="/ppt/notesSlides/notesSlide11.xml" Id="R605d2e46d08845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341428544aeb" /><Relationship Type="http://schemas.openxmlformats.org/officeDocument/2006/relationships/notesSlide" Target="/ppt/notesSlides/notesSlide12.xml" Id="R0520c8ea505d41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3cb5a8e2248df" /><Relationship Type="http://schemas.openxmlformats.org/officeDocument/2006/relationships/notesSlide" Target="/ppt/notesSlides/notesSlide13.xml" Id="Rdc4c3c874a874e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fcc3b7c04640" /><Relationship Type="http://schemas.openxmlformats.org/officeDocument/2006/relationships/notesSlide" Target="/ppt/notesSlides/notesSlide14.xml" Id="R6c62ea5ae7344a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F69EB-69DB-4153-90E4-0833907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6C5FB-7A6F-4FC7-904A-020096A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C462A-3A05-450E-BB5F-0147AABD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40601-DFCE-48D4-95AC-B2B224C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80EA0-CB91-49BF-8D6A-3BAE1D5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7C404-A492-40F3-B5CA-AA0FDE8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InsightFace 的</a:t>
            </a:r>
          </a:p>
          <a:p xmlns:a="http://schemas.openxmlformats.org/drawingml/2006/main">
            <a:pPr algn="l">
              <a:defRPr sz="36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本地实时人脸识别系统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160A0-124F-4A4D-A602-DD2C1F52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人工智能基础课程期末项目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52379-2643-4CA8-BCBD-AAD6D86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用预训练深度学习模型完成人脸检测、embedding 特征提取、相似度匹配和本地识别记录管理。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9A0F6-DA97-493B-B982-4A389901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课程：人工智能基础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项目成员：在这里填写姓名 / 学号 / 班级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指导教师：在这里填写教师姓名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答辩日期：在这里填写日期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F387B-87BA-4731-8945-D000C429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F6C0F-C777-4411-B186-AD26FD6A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维人脸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4508A-214B-4D5C-8900-4E283C0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29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68E90-A9B8-4586-AB98-6A86BA10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48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相似度阈值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D2B40-60AF-42B4-8E46-89C2D07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29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91B2"/>
                </a:solidFill>
                <a:latin typeface="Aptos Display"/>
                <a:ea typeface="Aptos Display"/>
                <a:cs typeface="Aptos Display"/>
              </a:rPr>
              <a:t>本地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F08B6-4FF9-4C31-983A-2A0C409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483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照片与识别日志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9B9F1-A47C-47C1-947D-7499F96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7ECAE-E798-447F-BB04-38F1F23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87083"/>
                </a:solidFill>
                <a:latin typeface="Aptos"/>
                <a:ea typeface="Aptos"/>
                <a:cs typeface="Aptos"/>
              </a:rPr>
              <a:t>Camera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A2FD0-0591-46EE-9F4B-9192B23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6210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19050">
            <a:solidFill>
              <a:srgbClr val="C9D8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27C2D-2E8A-455A-99AB-4B80524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2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F8E42-B129-4C66-B01C-DEA1A7A2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AC079-CE89-4B0C-A571-6A651DF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8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BE854-DDD9-45AC-918F-D208478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E36A1-1AB7-4E6F-B956-3780658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813A4-A094-4169-A9B3-ABAF4C8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recognized 0.72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FCF83-B962-4AD3-8C07-8CAABF2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image -&gt; model -&gt; embedding -&gt; identity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E0244-FF66-48DC-A728-1CEC16B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0A112-4D52-4AC2-BF1E-2BDC6EB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13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F4CA4-B6A8-488C-8F64-AC8CEA0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3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2BC4C-65DD-47E4-BD55-2CCCDA89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3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F4818-05B5-4944-8BBF-AD5D3D00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13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2737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321C8-2911-4BC3-B764-DA3F571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C1D5D-6ED4-4C6C-8BA5-EACD57B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1DB23-EE1F-409F-888A-F1FE955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371E2-B23A-484F-8E3D-8E14BA2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C0674-604D-4A1C-8D0F-EA8BA80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B920-3FEC-4D09-8FBA-FCF68DC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B65A-289A-47F9-A820-D8BBB4DB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PROJECT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8A6AF-2ECB-4F50-A7F1-438A4B2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人脸识别是计算机视觉中最适合课堂展示的 AI 应用之一。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99247-C45A-4923-9ED7-F94962A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BE597-30EB-4EF7-8F96-2E71EED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48C6F-FF2C-42CB-BA3A-15DBD623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输入是图像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75D0D-76BA-4584-9CDC-4A2B1E89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摄像头画面和人脸照片都是非结构化视觉数据，需要模型理解图像内容。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DBFFE-23B6-403B-BC43-A77F6832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701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8F621-EB33-43BD-B7AB-A6896788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051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9987A-9127-4EED-AAE3-EEC8F8C3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D0D4F-8025-4F08-84D9-F58D429D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3481A-36D3-48B9-894F-3CD2931C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模型提取特征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D93FF-C5BD-41EF-BDD6-3E8946B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0505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InsightFace 检测人脸位置，并把人脸转换成 embedding 特征向量。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DD03F-C598-4369-A327-8235DB3B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6701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26E8F-1042-4123-832A-1854F181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051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0CE27-D87A-4818-91FF-540EEE5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83920-4F6F-45FB-84B7-3C1AB9FB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AAAF3-F43B-4014-B5C1-055010B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系统做决策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1A1A4-9BE0-4792-9F28-0103AAA9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通过余弦相似度和阈值，判断当前人脸是已注册人员还是 Unknown。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98F2F-BE62-4742-AE78-F80D2189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课程知识对应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37221-606C-4B31-A97F-1CA533B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E8F7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22001-A290-472B-B418-AECE219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计算机视觉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6352A-1358-4121-A510-E2E3C0A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5B176-6FD3-48EF-8D1F-EE50D25B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05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1F9EB-4FE6-469A-869E-EE6FCDC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65CC4-DEF1-4019-A99A-C6FCDAA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05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特征表示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A7950-FA8E-4E14-A08D-1365D1B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F7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AFD9D-E26B-4683-94D0-3522580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05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相似度计算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4CEE8-346B-4C12-B6CD-D7D6A522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FEEC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68BA5-FC2A-4053-AF7B-4589029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053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阈值分类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EAC93-F0A8-40C3-AB06-57A8EF8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5357B-82BE-461D-8139-F23ED49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0537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工程化部署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1E05E0-51B4-48E2-824F-DB1163E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答辩主线：不是展示一个孤立模型，而是展示 AI 如何从图像输入走到可用系统。</a:t>
            </a:r>
          </a:p>
        </p:txBody>
      </p:sp>
    </p:spTree>
    <p:extLst>
      <p:ext uri="{BB962C8B-B14F-4D97-AF65-F5344CB8AC3E}">
        <p14:creationId xmlns:p14="http://schemas.microsoft.com/office/powerpoint/2010/main" val="880165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D68CD-52E5-47C6-9EBA-11DC393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4581-72DE-42F3-9163-9D5A825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4717-AD00-4904-BE38-F129595C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544B7-143C-4E18-AAE3-1F5B137B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74CF5-BA70-4DC9-AB60-05EEB87B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05E35-E4EF-4B62-A1C8-BA9345B1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82FCA-26D7-4205-B9BA-A741B4A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SYSTEM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B85AD-0C98-4612-BB7A-A0E000D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系统覆盖注册、识别、记录和管理四个完整环节。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E578B-AF7F-447E-A5EA-379B2E55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714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AA253-C3D8-48BA-B3BA-D179A99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7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66D47-5C5E-4F28-A2DF-A6678208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人脸注册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9CE42-6B98-481B-BE92-C8618B4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33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读取 known_faces/&lt;人名&gt;/ 照片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检测最大人脸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生成平均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FAE85-D7CB-47EE-88D1-02EFE99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85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EAC3B-2B62-4463-8C5D-FB291343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86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15D6F-3D4B-4D81-BA57-B9CD16C9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57350"/>
            <a:ext cx="1714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4D8E3-1B60-40B6-9566-4356C0F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57350"/>
            <a:ext cx="57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D52EE-5A0D-4A15-B9EF-2D3800AA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实时识别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48264-4676-410F-942A-AF9E8C47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52650"/>
            <a:ext cx="133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打开摄像头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检测当前帧人脸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显示姓名、相似度、FPS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2CAC8-E5C9-4592-9711-D9666275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5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BE39B-E0F2-4DA0-AD8D-72F1345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86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658CE-F4B4-4CE2-BD3C-0F1F3601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57350"/>
            <a:ext cx="1714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17EB9-8319-470C-BD8C-D58CC5C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57350"/>
            <a:ext cx="57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E288B-3EC1-4A44-AAE7-32BFFB8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Unknown 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09A32-5374-46C3-9DEE-74A0D9C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133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相似度低于阈值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显示 Unknown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降低误识别风险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1DA2F-CBF8-4435-BA8B-4845FE2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5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54D76-9751-40F2-8E93-12C43A5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86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7992E-5C13-4E44-BE92-99C7C00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57350"/>
            <a:ext cx="1714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DCD2C-1B38-4E1A-BF13-9EA7A458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57350"/>
            <a:ext cx="57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58219-432B-4894-96D3-4BA368F8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后端记录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FE44F-6259-48D3-85B2-B94FBD5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133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识别结果 POST 到 FastAPI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SQLite 保存姓名、时间、分数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限制重复写入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518D3-4A3D-41E0-9529-523D9C3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5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78860-A53A-45B4-AF7E-23EB7EE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C9347-5E35-493A-930A-9558B655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57350"/>
            <a:ext cx="1714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B5FB8-41EE-42AD-8BB4-896DCFAA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57350"/>
            <a:ext cx="57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A732AE-10BF-4A35-BDAD-81EBDBF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网页管理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77065-A838-403E-951F-381C18E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133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查看最近识别记录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管理人员与照片</a:t>
            </a:r>
          </a:p>
          <a:p xmlns:a="http://schemas.openxmlformats.org/drawingml/2006/main">
            <a:pPr algn="l">
              <a:def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一键重新注册人脸库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A6B9FA-E418-4F11-832A-474B974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85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E4468-E663-4C11-BAF7-28B56CD0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86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D8904C-0FEB-4527-9744-8AB73CB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8B9EA3-FDCD-4E4D-83A9-B2694687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A70B7E-6750-4C1F-A0B4-99B27D3C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4419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8858D1-23E0-4B49-B1A5-E7BB33CE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粘贴网页看板截图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E137EA-62B4-442D-A1A3-F00DDCB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建议截取 http://127.0.0.1:8000/ 的识别记录或人员管理区域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32AF1A-35EE-4A2D-B0C3-3B5861C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33F66-2A91-4DE0-AACC-A2F6E6D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419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8EC848-2071-4A45-919A-496F6B20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1490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粘贴摄像头识别截图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29C0A5-175C-47F2-8D4B-0A03A3F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959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建议展示绿色 recognized 框和红色 Unknown 框</a:t>
            </a:r>
          </a:p>
        </p:txBody>
      </p:sp>
    </p:spTree>
    <p:extLst>
      <p:ext uri="{BB962C8B-B14F-4D97-AF65-F5344CB8AC3E}">
        <p14:creationId xmlns:p14="http://schemas.microsoft.com/office/powerpoint/2010/main" val="9954153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AFDB8-8019-445B-911E-CDA7E27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EC4B-7077-4717-9A64-BD1E1223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8BF44-3BF1-439E-8A87-4383C5D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C7FAC-DD33-4974-AD41-0336645C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5D2C-D80E-45AB-8916-BA965A1C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536BF-6B4C-40FC-AFD5-32C4735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5EB9-31B9-427C-871A-B2E5A01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84A6B-6C35-4C4A-8904-41D2CFA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系统分为注册阶段和识别阶段，两条链路共享本地人脸库。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0EDE-7D5C-4EE4-9403-95AFA6FE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D8F0C-2B68-4EBC-96D2-E532C08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注册阶段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5A81D-442F-4114-9FD1-B88824B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2B175-685A-49A2-BA0C-0C68741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495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known_faces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B6970-5B5F-4F6F-BD1E-A25C825C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149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每个人一个文件夹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照片作为注册样本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29BEC-B6F5-40D7-9E2D-DB5E79A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606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EDDC7-8B35-44D5-B9B3-CF31426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2415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E3115-8665-43E9-97F8-E85DBDD3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50C9D-ED64-496B-82AF-51EA126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526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InsightFace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AA082-5E4F-41D1-A2FA-716A59A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57475"/>
            <a:ext cx="1543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检测最大人脸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提取 normed_embedding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6DAEF-47CE-4AEB-837C-97AA508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606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7E4D9-61BA-4CC7-A25D-2EB92C5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2415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4744F1-459F-461C-A6C1-3EFFAD7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38375"/>
            <a:ext cx="1762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1C505-F785-4FC9-A08C-55AE5AC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1495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face_db.npz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9E9DE-5C5B-4493-BF75-FF49727B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57475"/>
            <a:ext cx="149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保存 names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保存平均 embeddings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1996F-6F7F-4F0B-93CD-747DB6A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1EBD1-195F-4FE1-8195-AE168C4D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识别阶段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4C476-D453-464B-A27B-D980ED28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80D1F-32C3-47C2-803F-21AD1EF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57535F-61AE-4892-8345-BDCB3EA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OpenCV 读取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实时画面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28D26-B051-4897-9BB8-EB5CEC6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292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C0F2D-3027-44A7-9B75-484308E8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67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8F736-6AA4-4E8A-A780-35F45BF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291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6447C-E558-45AD-9B88-98CC629A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当前人脸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D4E04-6999-4616-9B9C-5626C43B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检测 bbox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提取 embedding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EE682-BA46-4FAE-8837-1F49AF5F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292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D1407-A66A-4ED8-8C98-5F471C6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067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AC7FA-CF33-4AC2-B482-84C6E6F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29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9CB30-677E-4ED2-B273-85A8AF5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434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相似度匹配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0EBFDC-1050-4EF2-A522-CF360808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embeddings @ emb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取最大 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DCDF5-729A-4AF4-A878-D2832D36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292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EAA808-A474-4567-BE68-247D096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67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02901E-FDB9-4CF8-AD73-C1978730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96F6D8-49D8-4D4D-9DE8-500E49E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阈值判断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2ECCE0-26D9-4363-8667-9193961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1352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score &gt;= 0.4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姓名 / Unknown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6080FA-9CFD-4835-A6C3-23C95D0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292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D89E6F-FB85-43AE-AAD4-3909F357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067300"/>
            <a:ext cx="1714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BED18A-4A37-471B-876D-D7F1618E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29150"/>
            <a:ext cx="78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911999-3977-4FCB-BB17-F147C371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7434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4D0E4-4248-48A0-9F39-3941117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048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看板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CBABC6-2237-4196-9E14-4173459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37185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BA9902-C55D-4279-AF50-AD8144FA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6213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76C09C-B815-498C-B79E-B4DCC2F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40005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65AD9B-6991-4BF7-AFA4-2AC846B5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同一个本地人脸库服务两个阶段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9BAC9D-BF90-46E4-B7F5-2796CF1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注册只需离线完成一次；识别阶段直接加载 embedding，不需要每帧读取原图。</a:t>
            </a:r>
          </a:p>
        </p:txBody>
      </p:sp>
    </p:spTree>
    <p:extLst>
      <p:ext uri="{BB962C8B-B14F-4D97-AF65-F5344CB8AC3E}">
        <p14:creationId xmlns:p14="http://schemas.microsoft.com/office/powerpoint/2010/main" val="4204424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6C1D8-E40C-4E93-9F2C-99BAE12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0B1F6-E6D7-4326-A2DC-D2F9211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8597D-C845-4864-A88C-CDE33CC2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333BF-8449-4AEC-8528-7878D70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0A9DF-79DD-43D2-BFD4-77BF46C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48633-6610-41B4-A124-1CED227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4060-8D5C-426F-A753-6A4395D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AI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9660-7453-4C2B-9A9B-7318165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核心不是像素比较，而是把人脸映射到可计算的特征空间。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A9391-46C0-461B-A586-7D1843DC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31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9291-5CF1-4E1E-A8BA-E914E35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289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2B7F4-1516-4298-A726-E16252F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特征向量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C1E0B-25BE-4C22-9E21-400E3C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002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6CFBE-42B2-475C-AD6D-D81419D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993CE-EC91-4995-90E4-9B16022B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669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514EF-3D75-411B-957E-34CF868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33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人脸检测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90664-4672-4F87-A254-8EAA1143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19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先定位画面中的人脸 bbox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11CC1-5CE3-475D-A434-1FCC4150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B3FE5-2443-46E5-8A80-B1A3936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67706-C37B-4BA0-959A-77FED949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383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4DB6A-4A6D-4496-AE44-2B3C960D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04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04FDF-1598-4A82-914B-062E4A4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90725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模型自动学习人脸结构特征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55DDC-65CE-4757-BF3D-E71D2DB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15527-77A0-4F3A-8E88-E357430A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8DBE9-EEB7-4B02-ABCD-EBA8CEB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669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D922E-22ED-4032-9F93-3501C92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33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特征表示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D5A4D-C007-461C-8686-C8AE754D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19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一张脸变成 512 维向量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0EBE-B591-4CFB-BA49-823F5CB7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F616A-9BCB-4C58-AA36-8D150F3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86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4E676-5A9E-4AD3-83ED-F91F19DD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053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EF476-32E5-497E-8523-98F17677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71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相似度度量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8A003B-1187-43D0-A425-756B18F1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57725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用余弦相似度比较向量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9E353-FB00-4C9F-AF36-0A84B59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89B4C-962E-49FE-905D-A8C17599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86467-7BB9-4C67-8B29-84CE343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768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1005C5-078F-4884-A0FB-543BD44D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434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阈值分类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A033AF-54FB-4271-9DE5-FC923F5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29225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score &gt;= 0.4 才识别成功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2A4D09-E4EB-4BD1-8465-118DE18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3862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0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E61DB5-DA2C-4464-8796-A5361BC4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994C66-BBAB-4326-9C86-D4BEA63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9DFA5C-E87D-43CD-A991-398865E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71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数据与隐私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273313-E568-40D1-BA3C-720B47B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57725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照片、特征库、日志都应本地保护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448A99-5197-4F6B-8E6C-6899F2C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721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B3934-70C0-4FBE-A385-1AEC2D3A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9775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答辩金句：embedding 是模型生成的“数字身份证”</a:t>
            </a:r>
          </a:p>
        </p:txBody>
      </p:sp>
    </p:spTree>
    <p:extLst>
      <p:ext uri="{BB962C8B-B14F-4D97-AF65-F5344CB8AC3E}">
        <p14:creationId xmlns:p14="http://schemas.microsoft.com/office/powerpoint/2010/main" val="917746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76716-7BC4-48A1-8454-3766B84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488C8-FE7D-4DEB-BB0B-BE3700C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1D789-8EAD-47FB-B831-7C62720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24DC2-232B-4E2B-9796-C251417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0B8EC-20A0-4081-8130-486584C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3A5E-F2D5-4208-A8E9-36DB68B0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BA02D-402C-487E-ABE1-53221871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DECISION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3EA7D-3231-4A61-9935-72B4DCC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识别结果来自最近向量匹配，再经过阈值做二分类决策。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78D4D-0FA5-413B-9D9E-31D8C6A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C2FE0-51F0-423B-AA3B-1E754D0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相似度计算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B9D3B-0F59-4293-B7C9-7FC070A0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sims = embeddings @ emb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8A464-5803-489A-9567-42ED4EB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因为使用的是 normed_embedding，点积可以直接作为余弦相似度。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73963-F856-4FF9-868E-C2E4225D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选择最高分：max(score)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04C81-8BCD-45FF-94C3-DF7DDD0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80C16-EDBE-462F-9082-43835D5B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阈值判断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38A36-F491-4BA4-9BE3-3ECE8B7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48096-1507-450B-AB88-126699F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C2203-3136-44BF-B835-09D47671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D4785-717A-4076-BD07-88895509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FCE0B-DC3C-4475-9EA8-DB4E8F6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E60C6-D5A5-4E35-8552-334D433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THRESHOLD = 0.4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F8973-B3D0-4C4C-A756-CB67D889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8C32A-39A7-4E56-8DC8-0BCF53A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7EF09-D8E5-42D7-BCFA-9629FDFF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Recognized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44F55-1BBF-47EA-BA69-5C7C7FF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3548A-9E3C-4198-BE12-AED0DDC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5FB23-F731-41BE-B19F-10A57139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482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阈值调高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159611-6012-49CA-B968-F5FE8F8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911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更严格，误识别减少，但熟人可能变 Unknown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338D9-BDFF-4955-B376-6AFA7D3E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95875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A5C16-BCBB-4FE4-83CF-5102D566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95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C77B7-DC2D-415C-A57B-DB6954B3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482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阈值调低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669C9-C938-4B3D-98E9-09CC164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911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更宽松，漏识别减少，但误识别风险增加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08512-E99E-4B23-8FD9-367C9E8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F7A67-5305-4726-9991-389B57C9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6A9AA7-1F31-42CE-8145-686B601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482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课程联系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3C888-A8A7-43B7-A4F9-F9AC8627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9117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体现精确率、召回率和分类决策的权衡</a:t>
            </a:r>
          </a:p>
        </p:txBody>
      </p:sp>
    </p:spTree>
    <p:extLst>
      <p:ext uri="{BB962C8B-B14F-4D97-AF65-F5344CB8AC3E}">
        <p14:creationId xmlns:p14="http://schemas.microsoft.com/office/powerpoint/2010/main" val="14705507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A4335-AD58-48C8-8BFA-0BA24476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6554F-7053-4693-8BF2-C6382C18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DD64E-F783-4BDA-828E-335A298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6C811-4B93-450D-A6B8-17D9E3BB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BADEA-6C08-49CD-A5A3-CAA94A5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82DBB-AF5E-4833-924C-B9B48F3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D248-4552-4E3C-8B26-03D471B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3AC09-DBB3-4009-8C9D-10F897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项目把模型推理、图像处理、接口服务和网页展示集成成可运行系统。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49AF3-51E8-480A-97CD-ABDBA125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AF47-78D1-404C-974F-2A0B282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前端网页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051A0-B24B-40E2-BF39-EAF2333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954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backend/static/index.html + style.css + app.js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859CF-7E22-41CA-93FC-4B01ED02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DA40B-097E-46DE-A385-0C475C0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后端接口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F4740-1D77-4AD0-9FEB-07D8942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812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FastAPI routes + SQLite recognition.db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C0778-A4F8-4D98-BBC2-425334E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7C161-E34F-4209-8CB4-2F07D71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识别程序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D6C40-4A5E-47FD-8289-A6B75AA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670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face_recog.py: register /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51CF8-CEC9-4D27-B0E1-1F1B96C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0E597-32DF-4BD1-914F-385B80A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图像处理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84B3C-460F-4E9D-AB5E-1767EC3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528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OpenCV 摄像头、画框、截图；Pillow 中文渲染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DD406-9749-41B1-8FE5-43B21513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4537C-B851-456B-85B3-60DEDAA1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AI 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49DED-49BB-4A0B-8872-665A2DAC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386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InsightFace buffalo_sc + ONNXRuntime CPU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41F75-F85E-4687-A7FB-1BC78FA8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191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6BDE0-FEE1-4501-8F1F-D1023E4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B4955-29B0-46F7-BADD-BB8D1328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name = "buffalo_sc"</a:t>
            </a:r>
          </a:p>
          <a:p xmlns:a="http://schemas.openxmlformats.org/drawingml/2006/main"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providers = ["CPUExecutionProvider"]</a:t>
            </a:r>
          </a:p>
          <a:p xmlns:a="http://schemas.openxmlformats.org/drawingml/2006/main"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allowed_modules = ["detection", "recognition"]</a:t>
            </a:r>
          </a:p>
          <a:p xmlns:a="http://schemas.openxmlformats.org/drawingml/2006/main">
            <a:pPr algn="l"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det_size = (320, 320)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71C3B-3D03-4E6F-A9CD-2924C425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191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0B001-8E62-478D-9973-74BA2248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05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为什么适合课堂演示？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AFEB3-7C40-4ACF-A901-6A3A034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一键脚本降低环境门槛；本地网页方便展示识别记录；敏感数据默认留在本机。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44AF3-A146-4A98-9ECF-1892F6D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A5DC7-0C23-4AC5-9BF9-4F99E45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531989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2F772-D3B4-4564-9CB1-D3403316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3587353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C653B-94C7-47CF-8D0B-ADFE875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919" y="3642717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5F41F-F0D4-48E1-B0E6-02DB0D5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98081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7DE9C0-5034-43EC-8FC4-8259799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931" y="3753445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9E1B67-D18B-4202-B02F-EBA1B6D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808809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137DED-98EF-4E32-92B6-FD1CDE5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44" y="3864173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4B0D76-EB0F-423D-9227-4D767D9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19538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82A08-CB81-437F-B5A4-D1FF95CE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956" y="3974902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8564F-A84F-429F-92B8-EC0F802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963" y="4030266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5AC612-6A70-471E-9871-AA856DED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69" y="4085630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3BF922-DC3D-4BE5-BB55-E0E2840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40994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A91E6-EC99-415E-B37B-026D182A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981" y="4196358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7FA1A4-E7E2-48E6-8AE0-5505989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4251722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BC9ED-F046-47EF-B03F-7A1390F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994" y="4307086"/>
            <a:ext cx="78581" cy="83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845F70-340A-464D-BC5A-7075A69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29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EAF8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B662A-B07E-48A8-87BE-9659922B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768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模型 + 工程 = 可用 AI 系统</a:t>
            </a:r>
          </a:p>
        </p:txBody>
      </p:sp>
    </p:spTree>
    <p:extLst>
      <p:ext uri="{BB962C8B-B14F-4D97-AF65-F5344CB8AC3E}">
        <p14:creationId xmlns:p14="http://schemas.microsoft.com/office/powerpoint/2010/main" val="9914438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10DAED-CB1B-46C4-A140-C379954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10EEA-DD19-40B3-B1D4-8870567E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0101-0485-4D46-894A-D766A0B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26282-688A-434F-9466-F60F7BD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BAFF4-D6DF-4518-92DF-87DC3130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E6981-F8FA-4B37-9A62-9AD9288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BC82E-EB68-40B5-B61C-5967C7E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24D3-127B-4B99-B4AB-C6C50565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现场演示要证明系统真的能从摄像头产生可追踪的识别记录。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3737B-FD85-42D6-BE91-2D85F6EB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4638"/>
            <a:ext cx="946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133E4-FA30-4FFD-A6C7-EEC3F25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62C0C-B9AA-40C3-9B0A-348CF460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07751-4D3E-4362-BC74-1F70936B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38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3DA99-7E42-4889-B212-CE7B7E3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48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启动网页后端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59107-2EC2-47EE-A47F-E37BC6B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scripts\run_backend.bat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1AD0-9C7D-43C0-99B2-B0D5D9E1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EBA69-0CBD-4B9F-8A58-A7AAFFAD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28CB6-2F52-4770-8597-F91EBE93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33941-371B-4D5D-9ABB-000B7CFA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打开本地看板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43BD2-7C6F-4277-950A-1B75035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http://127.0.0.1:8000/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9AFD7-FE96-443E-802E-C2A411FF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5E235-13F3-4F90-A600-29F7AFB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C77F4-3D5F-431A-A9BA-8842FB46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96B26-ED2E-4736-ACD8-C1042E3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48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运行摄像头识别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271A6-4A5D-47CA-A919-D364B865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9095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scripts\run_camera.bat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07C4B-043B-40CF-8987-D1070F1D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CAB71-8AB1-434B-A391-AE4BBD52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51874-1AEB-4072-9DB3-F9B4F5D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C0904-0A1E-4AE2-8300-7159A5A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展示识别变化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CB8E0-01D6-4002-9300-171350BD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9095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已注册：绿色框</a:t>
            </a:r>
          </a:p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未注册：Unknown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7188C-3493-4D48-B327-DF4E8D6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91574-DFF3-4336-8062-8C572617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336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FE1F2-6A10-4B60-996C-93E4397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09E51-2E77-4125-AA64-7DC5674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48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查看记录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B0D6C0-DD21-43EC-88AF-928A136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9095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网页中出现最新识别日志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C570DF-C9BF-452F-BE32-3554F1E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41600D-227D-426B-87E2-6E24EEC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CEBBF-C030-4895-A2CE-543D1C6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演示话术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4EB129-92F5-426D-90E1-24896E6A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绿色框代表识别成功，红色框代表 Unknown；识别结果会同步写入本地后端。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15226-52B3-4612-9F17-4F3B9ABE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A30CC8-82A0-4221-B84C-A737815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3BD831-C560-4A5E-9F28-B08A96F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备用方案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B7EAB-E025-41C5-99C7-9541FA4E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626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摄像头 0 打不开时，改用 --cam 1 或 --cam 2。</a:t>
            </a:r>
          </a:p>
        </p:txBody>
      </p:sp>
    </p:spTree>
    <p:extLst>
      <p:ext uri="{BB962C8B-B14F-4D97-AF65-F5344CB8AC3E}">
        <p14:creationId xmlns:p14="http://schemas.microsoft.com/office/powerpoint/2010/main" val="1292494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C8C5B-E64E-484D-B8B6-F5FD6068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B1EE8-A65B-4B5F-A453-70B540D4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D9C0-8F83-4EA1-A06C-A29DCB4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F3E1-9DB8-49F0-BE7A-FF9408E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92BF9-C9B6-4E8D-A66F-1D89573D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21EEA-DAAA-44B0-937F-EF097E8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91CEC-7DB3-4836-B01C-461C233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LEARNING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95BE5-9793-49F6-95D3-2E66B08E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项目把人工智能基础的核心概念串成了一条完整应用链路。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FF454-70F4-4CDD-AA14-46864D7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86D99-AEC6-4AB0-88CF-F8CB90C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8CDF4-31DB-46B5-BBCF-B56234C3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理解视觉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0D045-77CD-4C78-89A0-109498D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知道图片输入如何经过检测、特征提取和画面标注，变成可解释结果。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501C0-20D3-4510-A338-0DC691A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7E6EE-7158-4C2E-93AF-220375B7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1B1D2-FF6A-4ACB-8FE3-3E000655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621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 embedding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8BE1A-48C0-4DD4-9336-CD3705B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认识到模型输出的不是姓名，而是可比较的高维特征向量。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5421A-92FF-4F80-99C2-2AD4CC6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3F300-35EF-478F-A185-704751C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4B368-1D6B-4DB9-AD44-2C836F7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理解分类决策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BBDCE-94C9-4478-89A5-31B7F93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用相似度和阈值控制 recognized / unknown 的判断边界。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EF9A1-9363-4393-97F5-602E9D2A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75ED9-3BBA-4C5F-B97D-3C7BDBC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11889-D71D-4D2F-9F35-69313D3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理解工程化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3FB17-1D33-4CB8-8684-116A758C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1952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把模型、摄像头、后端、数据库和网页组合成可运行系统。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3A3DB-2396-4731-826E-D6E0190B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994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10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6274E-4458-46AF-B5F0-BE03BA8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隐私与伦理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3FA4B-7D1F-4600-887A-AC0841B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863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BFF"/>
                </a:solidFill>
                <a:latin typeface="Microsoft YaHei"/>
                <a:ea typeface="Microsoft YaHei"/>
                <a:cs typeface="Microsoft YaHei"/>
              </a:rPr>
              <a:t>人脸照片、face_db.npz 和 recognition.db 都属于敏感数据；实际应用中必须取得授权，并优先采用本地存储和最小化使用原则。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2DFC5-918F-4B6B-942B-4A9C91CF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总结句：一个 AI 项目不仅是模型，还包括数据、决策、交互、部署和责任。</a:t>
            </a:r>
          </a:p>
        </p:txBody>
      </p:sp>
    </p:spTree>
    <p:extLst>
      <p:ext uri="{BB962C8B-B14F-4D97-AF65-F5344CB8AC3E}">
        <p14:creationId xmlns:p14="http://schemas.microsoft.com/office/powerpoint/2010/main" val="2472169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A8860-5A15-419F-B602-1016C86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82049-59EC-4C5C-8C6C-24F6E45E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171A4-5071-4147-8FA8-D5DDA9B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CD22A-98C6-42A9-B0F6-143446D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6EAE3-881F-4941-A74E-5A7444C3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3A26B-DE85-40BF-908A-E979875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95D94-8643-4691-B0CA-AD904A0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153CC-BFA8-40B5-AA20-8C473616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不足不是项目失败，而是下一步 AI 系统优化的入口。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D5461-17F1-45E3-87B4-4B439F4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3AB51-1031-4DED-96FB-85636469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当前不足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1050-568D-4AF7-85ED-15131D3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后续改进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FB4FB-1BCE-4614-9A33-45E7CE0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CPU 实时性能有限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F2017-8A8E-4075-86C9-0EF66617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接入 GPU / DirectML / CUDA，或降低检测频率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2D14A-1449-4854-B897-5F27D2CE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FE585-60B7-4929-953F-6EEE820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注册样本较少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BAFE5-91F2-42F2-A8AB-D9945E8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增加不同光照、角度和表情的样本照片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06E49-C16D-475F-99A0-F10D0D6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56F57-630D-454F-B9CF-852F1F0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阈值固定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80EE9-086E-4624-9E4E-2061C51C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构建验证集，自动选择更合适的阈值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3FD27-B0D4-4B2B-8460-E7DDDC68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CC7AD-190B-4B0A-939A-94D1BFB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未做活体检测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2C7CC-9D08-4DFB-900B-1137128E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加入眨眼、动作或深度信息，降低照片攻击风险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72B49-5EF3-415F-A8C5-2D8416F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6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D2C29-4439-4371-84B2-0BEBAB73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单机本地演示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D226F-3851-4992-8009-E575DE9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扩展多摄像头或局域网部署能力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7EABB-820F-44B1-83D1-18A7282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15B9A-90E6-4373-A09E-7723F9C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881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答辩收束：我们完成了从 AI 模型推理到本地应用系统的闭环，也清楚知道后续可以如何继续优化。</a:t>
            </a:r>
          </a:p>
        </p:txBody>
      </p:sp>
    </p:spTree>
    <p:extLst>
      <p:ext uri="{BB962C8B-B14F-4D97-AF65-F5344CB8AC3E}">
        <p14:creationId xmlns:p14="http://schemas.microsoft.com/office/powerpoint/2010/main" val="15945739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20778-6627-4A9E-A5FE-1CA0944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B37E8-39E7-47C9-86F0-5F6E31FA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8E0D6-C353-41CB-B0FC-C2A4870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F7555-5C36-4DCA-A92E-04523491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009AD-4AEE-4228-A7CE-7977D54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9A2F4-36A6-4317-AD07-DE4A94DE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C44DC-9747-4045-BDEB-2F4746A1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DEMO SCREENSHOT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D99D3-9D9B-429E-8A7F-3429502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网页看板截图用于证明识别结果能够被记录和管理。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EB823-6BA1-45C7-B438-24D7C121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2DCE-1B55-47E2-8EB5-0B8CFAA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68961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2D79F-9C74-4657-9ECC-7C3943B1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655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在这里粘贴：后端网页看板截图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0DDA2-D5F3-4F95-A0A0-8FDE411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81425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建议截图：识别记录列表、最近一次识别结果、人员管理区域；地址 http://127.0.0.1:8000/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FF745-8E98-4ADC-9308-B6C91EC0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CF7D5-C380-43F6-9178-1D50405F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92627-0E6A-4877-9E40-6D5A174E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讲解点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DAC1A-7C99-4729-8B5C-7AA7E44C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识别结果不只显示在摄像头画面，也会写入本地后端。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7AFC9-503D-480C-92F3-31D24D57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4F4B3-4447-4F45-B2EA-B7F5076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8232D-0F3A-4A79-AD0D-71C05385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讲解点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84B46-0D16-43CC-8328-1E90350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SQLite 保存姓名、时间、相似度和摄像头编号，方便答辩展示。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82773-2659-4FEE-93AE-4470173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99207-5F7A-4F00-8133-23609E4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3DA78-345A-4DB6-A040-9B92CF05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讲解点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E3C05-C24D-4C28-B3F4-51B2C45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人员和照片管理让系统从 demo 更接近一个可用应用。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78196-7CCB-44DF-99E0-094CE97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粘贴建议：用浏览器打开页面后截图，尽量保留顶部统计、表格和人员列表，避免露出敏感真实人脸。</a:t>
            </a:r>
          </a:p>
        </p:txBody>
      </p:sp>
    </p:spTree>
    <p:extLst>
      <p:ext uri="{BB962C8B-B14F-4D97-AF65-F5344CB8AC3E}">
        <p14:creationId xmlns:p14="http://schemas.microsoft.com/office/powerpoint/2010/main" val="19552243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E1196-D4BF-4AF6-8C79-44C8F969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AF089-1203-42A0-ABB9-6F50E810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B811C-5006-407D-83A2-FF2FED4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E2D6C-4915-4559-87F1-58E3D581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21057-98C7-4C38-B324-AD81E219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BC93D-52C3-4A8E-9370-98D6D8A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88F58-A1F4-47F2-9675-C7BB25AF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CAMERA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03E9C-4D5C-469C-82E0-504E6F27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摄像头识别截图用于展示模型推理结果和阈值判断效果。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01D3-E98F-4354-BCAB-4099391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5000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78E13-AA63-40F7-A4F5-DFAE0D5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657725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C5E6F-4809-4F93-BE97-8EB3C22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2313"/>
            <a:ext cx="4314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粘贴截图 A：已注册人员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62EEB-B944-481B-A38A-A0C6BCA4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3313"/>
            <a:ext cx="4048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建议画面：绿色框 + 姓名 + 相似度，例如 recognized 0.xx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E77FB-EF8E-41BB-A83D-641E11D7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5000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5C7AB-883B-4B8F-A1AE-D828012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657725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1DE70-6B95-4059-A6B0-6A9310F8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62313"/>
            <a:ext cx="4314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粘贴截图 B：Unknown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14611-9CAE-4497-8D5E-AF2F847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43313"/>
            <a:ext cx="4048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建议画面：红色框 + Unknown + 相似度，体现阈值判断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9FAA9-76CF-4FED-BE9C-43C4665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87F2D-427E-40AA-957D-AA932529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2EADF-9B04-4F14-924A-951E5A97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讲解话术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8B0C8-CB93-48AA-AA61-835EE5C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48400"/>
            <a:ext cx="40957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左图说明匹配成功；右图说明相似度不足时会判为 Unknown。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65449-F309-4D78-92C2-828B832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C0E81-37C7-403B-BAE1-8B1C2264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70FC3-3D2C-40B0-9F4C-6C6F78C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05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注意隐私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C52C0-BAE1-43D4-9016-BF3E1616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48400"/>
            <a:ext cx="36195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正式答辩可对真实人脸打码，重点展示识别框和结果文本。</a:t>
            </a:r>
          </a:p>
        </p:txBody>
      </p:sp>
    </p:spTree>
    <p:extLst>
      <p:ext uri="{BB962C8B-B14F-4D97-AF65-F5344CB8AC3E}">
        <p14:creationId xmlns:p14="http://schemas.microsoft.com/office/powerpoint/2010/main" val="3101594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58EB6-F787-4509-B69D-BB43E5A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5169-B7F3-45B7-88D0-5569460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CECED-C729-486B-BD85-29F1C5C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C7934-BA11-47D6-8A77-FB89F9D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4A92-3DFE-48C8-91A1-947850BF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E73C9-F304-4278-8DF4-7C85AA3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72065-D84E-492C-9FF4-6E54978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REGISTRATION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887B8-3D3B-4D7E-8535-682ACC1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注册过程截图用于说明人脸库是如何从照片变成 embedding 数据的。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4F3BF-60B2-46AA-86E9-40F18BD6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60CB7-C594-4836-AD76-E57C6025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419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6C57-9EC8-4135-8676-09C09528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粘贴截图 A：known_faces 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CBA75-1D54-4959-A5A2-6F22F66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90925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建议展示每个人一个文件夹；真实照片可以打码或只露出目录结构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6B817-01F5-475C-B0FD-5722C5AD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5FF37-1714-4A94-8D76-A5C5C346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419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3F0A4-8DEE-4FBC-A16E-A19FFEF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9925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粘贴截图 B：注册命令输出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8691C-8F76-4213-A6F7-1959DE8B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90925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建议展示 run_register.bat 或 python face_recog.py register 的 [done] 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289B4-2034-40E8-98E5-6DD531AD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2471A-A92D-4769-AEA1-516C9BF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6AB43-0CD4-4BD5-997A-C60AC78B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讲解点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0AB3D-2F91-49B7-B0C2-AF77676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72200"/>
            <a:ext cx="409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注册阶段会检测每张照片中的最大人脸，提取 normed_embedding，并为同一人多张照片求平均。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457A8-E1A1-4B96-A47A-81EFFC45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769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56B01-63E3-4937-AAF2-DA6BC62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769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0B5CF-41EA-4DD5-8531-2975A544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159DA-48F0-467A-9FAF-D781D2A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72200"/>
            <a:ext cx="3619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最终生成 face_db.npz，其中保存 names 和 embeddings，不保存原始像素。</a:t>
            </a:r>
          </a:p>
        </p:txBody>
      </p:sp>
    </p:spTree>
    <p:extLst>
      <p:ext uri="{BB962C8B-B14F-4D97-AF65-F5344CB8AC3E}">
        <p14:creationId xmlns:p14="http://schemas.microsoft.com/office/powerpoint/2010/main" val="2384227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12EC6-20BF-45F2-9C34-E298EF9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69DE-AE44-47A3-B354-81CE86FE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995A-AA1A-4368-B49F-90831C5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E3ECC-A081-4A56-9AF7-AABA867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人工智能基础期末项目 | 基于 InsightFace 的本地实时人脸识别系统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08D10-A7BD-46A4-A004-856B5AD7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0B8DA-BC38-468C-8900-8E909AA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E3655-2EB2-45D6-AC05-9BD8B055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D995F-7473-4343-8AF5-7FFC2BD3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这里可以补充个人分工、测试结果或答辩备用材料。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448D0-1A98-4FB9-8241-C3F90B0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572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78969-F4AB-4FF8-9A35-92FB182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2291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D8E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09E47-DF24-47D5-BC23-FC7A5DC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8913"/>
            <a:ext cx="3886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可选：粘贴测试结果截图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98BCB-57BD-43F1-B78C-EB8BC157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9913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例如离线冒烟测试、接口文档 /docs、数据库记录、依赖安装成功截图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54DB0-D6FC-4078-89A6-639751F8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466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01D28-15C7-4633-935B-79F109A8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FDF31-3D80-446F-9F62-51951348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项目成员与分工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DB6D8-6640-49F6-A752-4EBC721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在这里填写：成员 A 负责算法与识别；成员 B 负责后端；成员 C 负责前端与答辩。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500F5-312B-4E8F-B7E0-F337F07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466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310F7-87D7-4A77-AE6F-BB72932D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F1AC0-3EDC-4C93-970F-648C3D5C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测试环境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418F0-F2ED-4086-A96D-415D35D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在这里填写：Windows 版本、Python 版本、摄像头、CPU/GPU、测试人员数量。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22769-7943-4884-82CE-BF5DB49A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466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D30C-F5A4-4C01-8AE1-D1A5D99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56601-ADA5-408D-BB47-3E5DDF3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答辩备用说明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B33B4-BCBD-47D9-AE19-C3F19BE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83"/>
                </a:solidFill>
                <a:latin typeface="Microsoft YaHei"/>
                <a:ea typeface="Microsoft YaHei"/>
                <a:cs typeface="Microsoft YaHei"/>
              </a:rPr>
              <a:t>在这里填写：如果摄像头不可用，可以用网页截图和注册命令截图完成静态演示。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D64F3-4D6C-4C65-A5C8-48B5D572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这一页可以按老师要求保留或删除；如果不需要附录，答辩前可以直接删掉。</a:t>
            </a:r>
          </a:p>
        </p:txBody>
      </p:sp>
    </p:spTree>
    <p:extLst>
      <p:ext uri="{BB962C8B-B14F-4D97-AF65-F5344CB8AC3E}">
        <p14:creationId xmlns:p14="http://schemas.microsoft.com/office/powerpoint/2010/main" val="147833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2026-06-08T00:29:30.5030000Z</dcterms:created>
  <dcterms:modified xsi:type="dcterms:W3CDTF">2026-06-08T00:29:30.5030000Z</dcterms:modified>
</coreProperties>
</file>