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01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38200"/>
            <a:ext cx="5810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InsightFace 的</a:t>
            </a:r>
            <a:endParaRPr sz="36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本地实时人脸识别系统</a:t>
            </a:r>
            <a:endParaRPr sz="36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476500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人工智能基础课程期末项目</a:t>
            </a:r>
            <a:endParaRPr sz="15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02895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用预训练深度学习模型完成人脸检测、embedding 特征提取、相似度匹配和本地识别记录管理。</a:t>
            </a:r>
            <a:endParaRPr sz="15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4429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512</a:t>
            </a:r>
            <a:endParaRPr sz="25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8482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维人脸 embedding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52700" y="4429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0.4</a:t>
            </a:r>
            <a:endParaRPr sz="2550" b="1">
              <a:solidFill>
                <a:srgbClr val="05966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52700" y="48482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相似度阈值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43400" y="4429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rPr>
              <a:t>本地</a:t>
            </a:r>
            <a:endParaRPr sz="2550" b="1">
              <a:solidFill>
                <a:srgbClr val="0891B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43400" y="48482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照片与识别日志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876300"/>
            <a:ext cx="3429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524750" y="11239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87083"/>
                </a:solidFill>
                <a:latin typeface="Aptos"/>
                <a:ea typeface="Aptos"/>
                <a:cs typeface="Aptos"/>
              </a:rPr>
              <a:t>Camera Frame</a:t>
            </a:r>
            <a:endParaRPr sz="1200" b="1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91450" y="1562100"/>
            <a:ext cx="2333625" cy="2000250"/>
          </a:xfrm>
          <a:prstGeom prst="rect">
            <a:avLst/>
          </a:prstGeom>
          <a:solidFill>
            <a:srgbClr val="F2F8FE"/>
          </a:solidFill>
          <a:ln w="19050">
            <a:solidFill>
              <a:srgbClr val="C9D8E6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8420100" y="1828800"/>
            <a:ext cx="1066800" cy="1066800"/>
          </a:xfrm>
          <a:prstGeom prst="ellipse">
            <a:avLst/>
          </a:prstGeom>
          <a:solidFill>
            <a:srgbClr val="DCEEFF"/>
          </a:solidFill>
          <a:ln w="9525">
            <a:solidFill>
              <a:srgbClr val="DCEEFF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696325" y="2181225"/>
            <a:ext cx="133350" cy="1333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077325" y="2181225"/>
            <a:ext cx="133350" cy="1333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0" y="2647950"/>
            <a:ext cx="381000" cy="3810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001000" y="1771650"/>
            <a:ext cx="2000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53400" y="3276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recognized 0.72</a:t>
            </a:r>
            <a:endParaRPr sz="12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48500" y="47625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image -&gt; model -&gt; embedding -&gt; identity</a:t>
            </a:r>
            <a:endParaRPr sz="1500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29500" y="5200650"/>
            <a:ext cx="31432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734377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839152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943927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048702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02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CONTEXT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人脸识别是计算机视觉中最适合课堂展示的 AI 应用之一。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809750"/>
            <a:ext cx="2857500" cy="2000250"/>
          </a:xfrm>
          <a:prstGeom prst="rect">
            <a:avLst/>
          </a:prstGeom>
          <a:solidFill>
            <a:srgbClr val="EAF3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809750"/>
            <a:ext cx="57150" cy="2000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输入是图像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摄像头画面和人脸照片都是非结构化视觉数据，需要模型理解图像内容。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57625" y="2767013"/>
            <a:ext cx="714375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4486275" y="27051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86300" y="1809750"/>
            <a:ext cx="2857500" cy="2000250"/>
          </a:xfrm>
          <a:prstGeom prst="rect">
            <a:avLst/>
          </a:prstGeom>
          <a:solidFill>
            <a:srgbClr val="E8F7FA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86300" y="1809750"/>
            <a:ext cx="57150" cy="20002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7680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模型提取特征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7680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InsightFace 检测人脸位置，并把人脸转换成 embedding 特征向量。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62875" y="2767013"/>
            <a:ext cx="714375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>
            <a:off x="8391525" y="27051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91550" y="1809750"/>
            <a:ext cx="2857500" cy="2000250"/>
          </a:xfrm>
          <a:prstGeom prst="rect">
            <a:avLst/>
          </a:prstGeom>
          <a:solidFill>
            <a:srgbClr val="EAF8F1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91550" y="1809750"/>
            <a:ext cx="57150" cy="20002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8205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系统做决策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8205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通过余弦相似度和阈值，判断当前人脸是已注册人员还是 Unknown。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4381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课程知识对应</a:t>
            </a:r>
            <a:endParaRPr sz="16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" y="4857750"/>
            <a:ext cx="1428750" cy="323850"/>
          </a:xfrm>
          <a:prstGeom prst="rect">
            <a:avLst/>
          </a:prstGeom>
          <a:solidFill>
            <a:srgbClr val="E8F7FA"/>
          </a:solidFill>
          <a:ln w="9525">
            <a:solidFill>
              <a:srgbClr val="E8F7F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334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计算机视觉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76500" y="4857750"/>
            <a:ext cx="1428750" cy="323850"/>
          </a:xfrm>
          <a:prstGeom prst="rect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95750" y="4857750"/>
            <a:ext cx="1428750" cy="32385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1719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特征表示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715000" y="4857750"/>
            <a:ext cx="1428750" cy="323850"/>
          </a:xfrm>
          <a:prstGeom prst="rect">
            <a:avLst/>
          </a:prstGeom>
          <a:solidFill>
            <a:srgbClr val="FFF7E8"/>
          </a:solidFill>
          <a:ln w="9525">
            <a:solidFill>
              <a:srgbClr val="FFF7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79120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相似度计算</a:t>
            </a:r>
            <a:endParaRPr sz="9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34250" y="4857750"/>
            <a:ext cx="1428750" cy="323850"/>
          </a:xfrm>
          <a:prstGeom prst="rect">
            <a:avLst/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104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阈值分类</a:t>
            </a:r>
            <a:endParaRPr sz="97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953500" y="4857750"/>
            <a:ext cx="1809750" cy="32385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029700" y="4905375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工程化部署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5572125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答辩主线：不是展示一个孤立模型，而是展示 AI 如何从图像输入走到可用系统。</a:t>
            </a:r>
            <a:endParaRPr sz="16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03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CAPABILITIES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系统覆盖注册、识别、记录和管理四个完整环节。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1695450"/>
            <a:ext cx="20955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1695450"/>
            <a:ext cx="57150" cy="2714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18478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人脸注册</a:t>
            </a:r>
            <a:endParaRPr sz="15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2190750"/>
            <a:ext cx="1714500" cy="2105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known_faces/&lt;人名&gt;/ 照片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检测最大人脸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生成平均 embedding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724025" y="4695825"/>
            <a:ext cx="285750" cy="2857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781175" y="4743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38550" y="1695450"/>
            <a:ext cx="2095500" cy="2714625"/>
          </a:xfrm>
          <a:prstGeom prst="rect">
            <a:avLst/>
          </a:prstGeom>
          <a:solidFill>
            <a:srgbClr val="F9FC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1695450"/>
            <a:ext cx="57150" cy="2714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829050" y="18478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实时识别</a:t>
            </a:r>
            <a:endParaRPr sz="15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29050" y="2190750"/>
            <a:ext cx="1714500" cy="2105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打开摄像头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检测当前帧人脸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显示姓名、相似度、FPS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543425" y="4695825"/>
            <a:ext cx="285750" cy="28575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00575" y="4743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1695450"/>
            <a:ext cx="20955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57950" y="1695450"/>
            <a:ext cx="57150" cy="2714625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48450" y="18478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后端记录</a:t>
            </a:r>
            <a:endParaRPr sz="15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48450" y="2190750"/>
            <a:ext cx="1714500" cy="2105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 POST 到 FastAPI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保存姓名、时间、分数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限制重复写入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362825" y="4695825"/>
            <a:ext cx="285750" cy="28575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19975" y="4743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77350" y="1695450"/>
            <a:ext cx="2095500" cy="2714625"/>
          </a:xfrm>
          <a:prstGeom prst="rect">
            <a:avLst/>
          </a:prstGeom>
          <a:solidFill>
            <a:srgbClr val="F9FC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277350" y="1695450"/>
            <a:ext cx="57150" cy="2714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467850" y="18478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网页管理</a:t>
            </a:r>
            <a:endParaRPr sz="15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67850" y="2190750"/>
            <a:ext cx="1714500" cy="2105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查看最近识别记录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管理人员与照片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一键重新注册人脸库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10182225" y="4695825"/>
            <a:ext cx="285750" cy="28575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239375" y="4743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866900" y="4819650"/>
            <a:ext cx="8458200" cy="38100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54673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实际价值</a:t>
            </a:r>
            <a:endParaRPr sz="15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667000" y="5448300"/>
            <a:ext cx="762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课堂上可以现场演示：先展示网页看板，再打开摄像头识别，最后回到网页查看新增记录。</a:t>
            </a:r>
            <a:endParaRPr sz="15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04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系统分为注册阶段和识别阶段，两条链路共享本地人脸库。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695450"/>
            <a:ext cx="1200150" cy="304800"/>
          </a:xfrm>
          <a:prstGeom prst="rect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17430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注册阶段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238375"/>
            <a:ext cx="1762125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2352675"/>
            <a:ext cx="1495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known_faces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" y="2657475"/>
            <a:ext cx="149542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每个人一个文件夹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照片作为注册样本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86050" y="278606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>
            <a:off x="3267075" y="272415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429000" y="2238375"/>
            <a:ext cx="18097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562350" y="235267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InsightFace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2657475"/>
            <a:ext cx="1543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检测最大人脸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 normed_embedding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95900" y="278606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>
            <a:off x="5876925" y="272415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2238375"/>
            <a:ext cx="1762125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172200" y="2352675"/>
            <a:ext cx="1495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face_db.npz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72200" y="2657475"/>
            <a:ext cx="149542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 names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保存平均 embeddings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4057650"/>
            <a:ext cx="1200150" cy="30480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9150" y="41052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识别阶段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4629150"/>
            <a:ext cx="16192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47434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摄像头帧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09650" y="50482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 读取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实时画面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>
            <a:off x="31337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295650" y="4629150"/>
            <a:ext cx="17145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429000" y="474345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当前人脸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29000" y="5048250"/>
            <a:ext cx="1447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 bbox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 embedding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6730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等腰三角形 35"/>
          <p:cNvSpPr>
            <a:spLocks noGrp="1"/>
          </p:cNvSpPr>
          <p:nvPr/>
        </p:nvSpPr>
        <p:spPr>
          <a:xfrm>
            <a:off x="56483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810250" y="4629150"/>
            <a:ext cx="18097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43600" y="4743450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相似度匹配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943600" y="5048250"/>
            <a:ext cx="15430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embeddings @ emb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取最大 score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7715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等腰三角形 40"/>
          <p:cNvSpPr>
            <a:spLocks noGrp="1"/>
          </p:cNvSpPr>
          <p:nvPr/>
        </p:nvSpPr>
        <p:spPr>
          <a:xfrm>
            <a:off x="825817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420100" y="4629150"/>
            <a:ext cx="16192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53450" y="47434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阈值判断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553450" y="50482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&gt;= 0.4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 / Unknown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096500" y="5129213"/>
            <a:ext cx="5905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等腰三角形 45"/>
          <p:cNvSpPr>
            <a:spLocks noGrp="1"/>
          </p:cNvSpPr>
          <p:nvPr/>
        </p:nvSpPr>
        <p:spPr>
          <a:xfrm>
            <a:off x="106013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763250" y="4629150"/>
            <a:ext cx="7810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896600" y="47434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896600" y="50482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900863" y="3371850"/>
            <a:ext cx="28575" cy="6286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05600" y="3986213"/>
            <a:ext cx="209550" cy="28575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691313" y="4000500"/>
            <a:ext cx="28575" cy="6286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981950" y="2724150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同一个本地人脸库服务两个阶段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981950" y="3238500"/>
            <a:ext cx="3162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注册只需离线完成一次；识别阶段直接加载 embedding，不需要每帧读取原图。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05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CORE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核心不是像素比较，而是把人脸映射到可计算的特征空间。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257800" y="2543175"/>
            <a:ext cx="1676400" cy="1676400"/>
          </a:xfrm>
          <a:prstGeom prst="ellipse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5543550" y="2828925"/>
            <a:ext cx="1104900" cy="1104900"/>
          </a:xfrm>
          <a:prstGeom prst="ellipse">
            <a:avLst/>
          </a:prstGeom>
          <a:solidFill>
            <a:srgbClr val="D9ECFF"/>
          </a:solidFill>
          <a:ln w="9525">
            <a:solidFill>
              <a:srgbClr val="D9EC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72125" y="3009900"/>
            <a:ext cx="1047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特征向量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33625" y="2000250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2381250" y="2047875"/>
            <a:ext cx="247650" cy="2476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38400" y="2066925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33675" y="2133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人脸检测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86025" y="2419350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先定位画面中的人脸 bbox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53000" y="1571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5000625" y="1619250"/>
            <a:ext cx="247650" cy="24765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57775" y="1638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1704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05400" y="1990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模型自动学习人脸结构特征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77125" y="2000250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7524750" y="2047875"/>
            <a:ext cx="247650" cy="24765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581900" y="2066925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77175" y="2133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特征表示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9525" y="2419350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一张脸变成 512 维向量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24750" y="4238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7572375" y="4286250"/>
            <a:ext cx="247650" cy="24765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29525" y="4305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924800" y="4371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相似度度量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77150" y="4657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用余弦相似度比较向量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953000" y="48101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5000625" y="4857750"/>
            <a:ext cx="247650" cy="2476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057775" y="48768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53050" y="49434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阈值分类</a:t>
            </a:r>
            <a:endParaRPr sz="13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05400" y="52292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&gt;= 0.4 才识别成功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238375" y="4238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102033"/>
            </a:solidFill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2286000" y="4286250"/>
            <a:ext cx="247650" cy="2476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343150" y="4305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638425" y="4371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数据与隐私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390775" y="4657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照片、特征库、日志都应本地保护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324350" y="5772150"/>
            <a:ext cx="3543300" cy="32385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400550" y="5819775"/>
            <a:ext cx="3390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答辩金句：embedding 是模型生成的“数字身份证”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06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 RULE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识别结果来自最近向量匹配，再经过阈值做二分类决策。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809750"/>
            <a:ext cx="4762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095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相似度计算</a:t>
            </a:r>
            <a:endParaRPr sz="17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60985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sims = embeddings @ emb</a:t>
            </a:r>
            <a:endParaRPr sz="22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257550"/>
            <a:ext cx="371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因为使用的是 normed_embedding，点积可以直接作为余弦相似度。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0005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选择最高分：max(score)</a:t>
            </a:r>
            <a:endParaRPr sz="15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1809750"/>
            <a:ext cx="4857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209550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阈值判断</a:t>
            </a:r>
            <a:endParaRPr sz="17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352800"/>
            <a:ext cx="3505200" cy="76200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0" y="3352800"/>
            <a:ext cx="1524000" cy="7620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0" y="3352800"/>
            <a:ext cx="1981200" cy="7620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248650" y="3257550"/>
            <a:ext cx="266700" cy="26670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36385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0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15250" y="3733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THRESHOLD = 0.4</a:t>
            </a:r>
            <a:endParaRPr sz="14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287000" y="36385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1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00875" y="29527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63050" y="2952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Recognized</a:t>
            </a:r>
            <a:endParaRPr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509587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5095875"/>
            <a:ext cx="57150" cy="80010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阈值调高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57300" y="5591175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更严格，误识别减少，但熟人可能变 Unknown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29150" y="509587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29150" y="5095875"/>
            <a:ext cx="57150" cy="800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81965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阈值调低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819650" y="5591175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更宽松，漏识别减少，但误识别风险增加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91500" y="509587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91500" y="5095875"/>
            <a:ext cx="57150" cy="800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8200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课程联系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82000" y="5591175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体现精确率、召回率和分类决策的权衡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07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IMPLEMENTATION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项目把模型推理、图像处理、接口服务和网页展示集成成可运行系统。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9150" y="17621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66800" y="18954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前端网页</a:t>
            </a:r>
            <a:endParaRPr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81250" y="18954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backend/static/index.html + style.css + app.js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9150" y="2447925"/>
            <a:ext cx="5238750" cy="514350"/>
          </a:xfrm>
          <a:prstGeom prst="rect">
            <a:avLst/>
          </a:prstGeom>
          <a:solidFill>
            <a:srgbClr val="F9FC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66800" y="25812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</a:t>
            </a:r>
            <a:endParaRPr sz="14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381250" y="25812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FastAPI routes + SQLite recognition.db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9150" y="31337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66800" y="32670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识别程序</a:t>
            </a:r>
            <a:endParaRPr sz="142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381250" y="32670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face_recog.py: register / run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" y="3819525"/>
            <a:ext cx="5238750" cy="514350"/>
          </a:xfrm>
          <a:prstGeom prst="rect">
            <a:avLst/>
          </a:prstGeom>
          <a:solidFill>
            <a:srgbClr val="F9FC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66800" y="3952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图像处理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381250" y="39528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OpenCV 摄像头、画框、截图；Pillow 中文渲染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19150" y="45053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66800" y="46386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模型</a:t>
            </a:r>
            <a:endParaRPr sz="142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381250" y="46386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InsightFace buffalo_sc + ONNXRuntime CPU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0" y="1762125"/>
            <a:ext cx="4304030" cy="1713865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05650" y="20193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关键配置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05650" y="2457450"/>
            <a:ext cx="3619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name = "buffalo_sc"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providers = ["CPUExecutionProvider"]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allowed_modules = ["detection", "recognition"]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det_size = (320, 320)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0" y="3638550"/>
            <a:ext cx="41910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10565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为什么适合课堂演示？</a:t>
            </a:r>
            <a:endParaRPr sz="16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05650" y="4362450"/>
            <a:ext cx="342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一键脚本降低环境门槛；本地网页方便展示识别记录；敏感数据默认留在本机。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57900" y="3476625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107906" y="3531989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57913" y="3587353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07919" y="3642717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257925" y="3698081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307931" y="3753445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357938" y="3808809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07944" y="3864173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457950" y="3919538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07956" y="3974902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57963" y="4030266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07969" y="4085630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57975" y="4140994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707981" y="4196358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57988" y="4251722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07994" y="4307086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848600" y="5429250"/>
            <a:ext cx="2190750" cy="34290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924800" y="5476875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 + 工程 = 可用 AI 系统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08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 DEMO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现场演示要证明系统真的能从摄像头产生可追踪的识别记录。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814638"/>
            <a:ext cx="9467850" cy="4762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895350" y="2667000"/>
            <a:ext cx="342900" cy="3429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01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62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启动网页后端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62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scripts\run_backend.bat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3257550" y="2667000"/>
            <a:ext cx="342900" cy="34290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623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479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8384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打开本地看板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384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http://127.0.0.1:8000/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5619750" y="2667000"/>
            <a:ext cx="342900" cy="34290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7245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101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006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运行摄像头识别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006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scripts\run_camera.bat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981950" y="2667000"/>
            <a:ext cx="342900" cy="34290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867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723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5628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展示识别变化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5628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已注册：绿色框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未注册：Unknown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10344150" y="2667000"/>
            <a:ext cx="342900" cy="3429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4489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7345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250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查看记录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250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网页中出现最新识别日志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23950" y="5067300"/>
            <a:ext cx="4476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23950" y="5067300"/>
            <a:ext cx="57150" cy="83820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314450" y="52197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演示话术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314450" y="55626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绿色框代表识别成功，红色框代表 Unknown；识别结果会同步写入本地后端。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72250" y="5067300"/>
            <a:ext cx="3876675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72250" y="5067300"/>
            <a:ext cx="57150" cy="8382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762750" y="521970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备用方案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762750" y="5562600"/>
            <a:ext cx="358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 0 打不开时，改用 --cam 1 或 --cam 2。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09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LEARNING OUTCOMES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项目把人工智能基础的核心概念串成了一条完整应用链路。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1809750"/>
            <a:ext cx="2333625" cy="1809750"/>
          </a:xfrm>
          <a:prstGeom prst="rect">
            <a:avLst/>
          </a:prstGeom>
          <a:solidFill>
            <a:srgbClr val="EAF3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1809750"/>
            <a:ext cx="57150" cy="1809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196215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理解视觉 AI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2305050"/>
            <a:ext cx="1952625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知道图片输入如何经过检测、特征提取和画面标注，变成可解释结果。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1809750"/>
            <a:ext cx="2333625" cy="1809750"/>
          </a:xfrm>
          <a:prstGeom prst="rect">
            <a:avLst/>
          </a:prstGeom>
          <a:solidFill>
            <a:srgbClr val="E8F7FA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1809750"/>
            <a:ext cx="57150" cy="18097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52850" y="196215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 embedding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52850" y="2305050"/>
            <a:ext cx="1952625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认识到模型输出的不是姓名，而是可比较的高维特征向量。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29350" y="1809750"/>
            <a:ext cx="2333625" cy="1809750"/>
          </a:xfrm>
          <a:prstGeom prst="rect">
            <a:avLst/>
          </a:prstGeom>
          <a:solidFill>
            <a:srgbClr val="EAF8F1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29350" y="1809750"/>
            <a:ext cx="57150" cy="18097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196215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理解分类决策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2305050"/>
            <a:ext cx="1952625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用相似度和阈值控制 recognized / unknown 的判断边界。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96350" y="1809750"/>
            <a:ext cx="2333625" cy="1809750"/>
          </a:xfrm>
          <a:prstGeom prst="rect">
            <a:avLst/>
          </a:prstGeom>
          <a:solidFill>
            <a:srgbClr val="FFF7E8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896350" y="1809750"/>
            <a:ext cx="57150" cy="1809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086850" y="196215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理解工程化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86850" y="2305050"/>
            <a:ext cx="1952625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把模型、摄像头、后端、数据库和网页组合成可运行系统。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3950" y="4476750"/>
            <a:ext cx="9944100" cy="87630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66850" y="47434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隐私与伦理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67050" y="468630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人脸照片、face_db.npz 和 recognition.db 都属于敏感数据；实际应用中必须取得授权，并优先采用本地存储和最小化使用原则。</a:t>
            </a:r>
            <a:endParaRPr sz="1500" b="0">
              <a:solidFill>
                <a:srgbClr val="DD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66850" y="571500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总结句：一个 AI 项目不仅是模型，还包括数据、决策、交互、部署和责任。</a:t>
            </a:r>
            <a:endParaRPr sz="16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10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ROADMAP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不足不是项目失败，而是下一步 AI 系统优化的入口。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076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当前不足</a:t>
            </a:r>
            <a:endParaRPr sz="16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19800" y="2076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后续改进</a:t>
            </a:r>
            <a:endParaRPr sz="16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552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实时性能有限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19800" y="25527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 GPU / DirectML / CUDA，或降低检测频率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29337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428750" y="30480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注册样本较少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19800" y="30480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增加不同光照、角度和表情的样本照片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8250" y="34290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35433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阈值固定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19800" y="35433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构建验证集，自动选择更合适的阈值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38250" y="39243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40386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未做活体检测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19800" y="40386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加入眨眼、动作或深度信息，降低照片攻击风险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38250" y="44196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28750" y="45339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单机本地演示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45339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扩展多摄像头或局域网部署能力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28750" y="5619750"/>
            <a:ext cx="9334500" cy="495300"/>
          </a:xfrm>
          <a:prstGeom prst="rect">
            <a:avLst/>
          </a:prstGeom>
          <a:solidFill>
            <a:srgbClr val="EAF3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95450" y="5753100"/>
            <a:ext cx="8810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答辩收束：我们完成了从 AI 模型推理到本地应用系统的闭环，也清楚知道后续可以如何继续优化。</a:t>
            </a:r>
            <a:endParaRPr sz="15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2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3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4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5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6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7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8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9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0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1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2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3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4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ags/tag15.xml><?xml version="1.0" encoding="utf-8"?>
<p:tagLst xmlns:p="http://schemas.openxmlformats.org/presentationml/2006/main">
  <p:tag name="KSO_WM_DIAGRAM_VIRTUALLY_FRAME" val="{&quot;height&quot;:256.5,&quot;left&quot;:64.5,&quot;top&quot;:138.75,&quot;width&quot;:412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2996</Words>
  <Application>WPS 演示</Application>
  <PresentationFormat>Converted Presentation</PresentationFormat>
  <Paragraphs>406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Aptos</vt:lpstr>
      <vt:lpstr>Segoe UI</vt:lpstr>
      <vt:lpstr>Aptos Display</vt:lpstr>
      <vt:lpstr>Aptos Mono</vt:lpstr>
      <vt:lpstr>Segoe UI Variable Display</vt:lpstr>
      <vt:lpstr>Arial Unicode MS</vt:lpstr>
      <vt:lpstr>Calibri</vt:lpstr>
      <vt:lpstr>Cascadia Mono SemiLight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WPS_1601823620</cp:lastModifiedBy>
  <cp:revision>1</cp:revision>
  <dcterms:created xsi:type="dcterms:W3CDTF">2026-06-07T15:03:48Z</dcterms:created>
  <dcterms:modified xsi:type="dcterms:W3CDTF">2026-06-07T15:03:48Z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21AE1D48772547A399905066D5F63A54_12</vt:lpwstr>
  </property>
</Properties>
</file>