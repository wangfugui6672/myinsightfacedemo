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223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01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838200"/>
            <a:ext cx="5810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6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InsightFace 的</a:t>
            </a:r>
            <a:endParaRPr sz="360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36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本地实时人脸识别系统</a:t>
            </a:r>
            <a:endParaRPr sz="360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2277745"/>
            <a:ext cx="495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用预训练深度学习模型完成人脸检测、embedding 特征提取、相似度匹配和本地识别记录管理。</a:t>
            </a:r>
            <a:endParaRPr sz="15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4000500"/>
            <a:ext cx="4953000" cy="162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  <p:txBody>
          <a:bodyPr lIns="171450" tIns="133350" rIns="171450" bIns="133350" anchor="t"/>
          <a:lstStyle/>
          <a:p>
            <a:pPr algn="l">
              <a:buNone/>
              <a:defRPr sz="1350" b="0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班级：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25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软件工程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班</a:t>
            </a:r>
            <a:endParaRPr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buNone/>
              <a:defRPr sz="1350" b="0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020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组名：</a:t>
            </a:r>
            <a:r>
              <a:rPr sz="1800" b="0">
                <a:solidFill>
                  <a:srgbClr val="1020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第8组</a:t>
            </a:r>
            <a:endParaRPr sz="1800" b="0">
              <a:solidFill>
                <a:srgbClr val="1020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buNone/>
              <a:defRPr sz="1350" b="0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020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组长：</a:t>
            </a:r>
            <a:r>
              <a:rPr sz="1800" b="0">
                <a:solidFill>
                  <a:srgbClr val="1020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杨宇婷</a:t>
            </a:r>
            <a:endParaRPr sz="1800" b="0">
              <a:solidFill>
                <a:srgbClr val="1020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buNone/>
              <a:defRPr sz="1350" b="0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020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项目成员：</a:t>
            </a:r>
            <a:r>
              <a:rPr sz="1800" b="0">
                <a:solidFill>
                  <a:srgbClr val="1020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黄成杰、洪伟榉、刘钰森、周可文</a:t>
            </a:r>
            <a:endParaRPr sz="1800" b="0">
              <a:solidFill>
                <a:srgbClr val="1020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buNone/>
              <a:defRPr sz="1350" b="0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020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指导教师：</a:t>
            </a:r>
            <a:r>
              <a:rPr sz="1800" b="0">
                <a:solidFill>
                  <a:srgbClr val="1020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张旭</a:t>
            </a:r>
            <a:endParaRPr sz="1800" b="0">
              <a:solidFill>
                <a:srgbClr val="1020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39000" y="876300"/>
            <a:ext cx="3429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524750" y="11239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87083"/>
                </a:solidFill>
                <a:latin typeface="Aptos"/>
                <a:ea typeface="Aptos"/>
                <a:cs typeface="Aptos"/>
              </a:rPr>
              <a:t>Camera Frame</a:t>
            </a:r>
            <a:endParaRPr sz="1200" b="1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791450" y="1562100"/>
            <a:ext cx="2333625" cy="2000250"/>
          </a:xfrm>
          <a:prstGeom prst="rect">
            <a:avLst/>
          </a:prstGeom>
          <a:solidFill>
            <a:srgbClr val="F2F8FE"/>
          </a:solidFill>
          <a:ln w="19050">
            <a:solidFill>
              <a:srgbClr val="C9D8E6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8420100" y="1828800"/>
            <a:ext cx="1066800" cy="1066800"/>
          </a:xfrm>
          <a:prstGeom prst="ellipse">
            <a:avLst/>
          </a:prstGeom>
          <a:solidFill>
            <a:srgbClr val="DCEEFF"/>
          </a:solidFill>
          <a:ln w="9525">
            <a:solidFill>
              <a:srgbClr val="DCEEFF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8696325" y="2181225"/>
            <a:ext cx="133350" cy="133350"/>
          </a:xfrm>
          <a:prstGeom prst="ellipse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9077325" y="2181225"/>
            <a:ext cx="133350" cy="133350"/>
          </a:xfrm>
          <a:prstGeom prst="ellipse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763000" y="2647950"/>
            <a:ext cx="381000" cy="38100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001000" y="1771650"/>
            <a:ext cx="2000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38100">
            <a:solidFill>
              <a:srgbClr val="059669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153400" y="32766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recognized 0.72</a:t>
            </a:r>
            <a:endParaRPr sz="127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048500" y="47625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image -&gt; model -&gt; embedding -&gt; identity</a:t>
            </a:r>
            <a:endParaRPr sz="1500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0" y="5200650"/>
            <a:ext cx="314325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7343775" y="5133975"/>
            <a:ext cx="171450" cy="1714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8391525" y="5133975"/>
            <a:ext cx="171450" cy="1714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9439275" y="5133975"/>
            <a:ext cx="171450" cy="1714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1" name="椭圆 30"/>
          <p:cNvSpPr>
            <a:spLocks noGrp="1"/>
          </p:cNvSpPr>
          <p:nvPr/>
        </p:nvSpPr>
        <p:spPr>
          <a:xfrm>
            <a:off x="10487025" y="5133975"/>
            <a:ext cx="171450" cy="1714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02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APPLICATION SCENARIOS</a:t>
            </a:r>
            <a:endParaRPr sz="975" b="1">
              <a:solidFill>
                <a:srgbClr val="0891B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9715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该技术可以落在门禁、考勤、实验室管理和身份核验等真实应用场景。</a:t>
            </a:r>
            <a:endParaRPr sz="21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1790700"/>
            <a:ext cx="2190750" cy="2266950"/>
          </a:xfrm>
          <a:prstGeom prst="rect">
            <a:avLst/>
          </a:prstGeom>
          <a:solidFill>
            <a:srgbClr val="EAF3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1790700"/>
            <a:ext cx="57150" cy="22669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33450" y="19621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智能门禁</a:t>
            </a:r>
            <a:endParaRPr sz="16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33450" y="2400300"/>
            <a:ext cx="1714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识别人脸后决定是否放行，适合宿舍、办公室、实验室等授权场景。</a:t>
            </a:r>
            <a:endParaRPr sz="12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581400" y="1790700"/>
            <a:ext cx="2190750" cy="2266950"/>
          </a:xfrm>
          <a:prstGeom prst="rect">
            <a:avLst/>
          </a:prstGeom>
          <a:solidFill>
            <a:srgbClr val="E8F7FA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581400" y="1790700"/>
            <a:ext cx="57150" cy="22669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771900" y="19621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课堂考勤</a:t>
            </a:r>
            <a:endParaRPr sz="165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771900" y="2400300"/>
            <a:ext cx="1714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自动记录到课情况，减少人工点名成本，适合本地局域网或单机教室环境。</a:t>
            </a:r>
            <a:endParaRPr sz="12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19850" y="1790700"/>
            <a:ext cx="2190750" cy="2266950"/>
          </a:xfrm>
          <a:prstGeom prst="rect">
            <a:avLst/>
          </a:prstGeom>
          <a:solidFill>
            <a:srgbClr val="EAF8F1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19850" y="1790700"/>
            <a:ext cx="57150" cy="2266950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610350" y="19621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实验室权限</a:t>
            </a:r>
            <a:endParaRPr sz="165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10350" y="2400300"/>
            <a:ext cx="1714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结合本地人脸库判断是否有权限进入机房、实验室或设备操作区域。</a:t>
            </a:r>
            <a:endParaRPr sz="12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258300" y="1790700"/>
            <a:ext cx="2190750" cy="2266950"/>
          </a:xfrm>
          <a:prstGeom prst="rect">
            <a:avLst/>
          </a:prstGeom>
          <a:solidFill>
            <a:srgbClr val="FFF7E8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58300" y="1790700"/>
            <a:ext cx="57150" cy="22669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448800" y="19621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身份核验</a:t>
            </a:r>
            <a:endParaRPr sz="16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448800" y="2400300"/>
            <a:ext cx="1714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在访客登记、活动签到或内部认证时，快速判断是不是已注册人员。</a:t>
            </a:r>
            <a:endParaRPr sz="12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03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 CONTEXT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6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/>
              <a:t>基于 InsightFace 的本地实时人脸识别系统</a:t>
            </a:r>
            <a:endParaRPr sz="2475"/>
          </a:p>
          <a:p>
            <a:pPr algn="l">
              <a:buNone/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1809750"/>
            <a:ext cx="2857500" cy="2000250"/>
          </a:xfrm>
          <a:prstGeom prst="rect">
            <a:avLst/>
          </a:prstGeom>
          <a:solidFill>
            <a:srgbClr val="EAF3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1809750"/>
            <a:ext cx="57150" cy="20002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19621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输入是图像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2305050"/>
            <a:ext cx="247650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摄像头画面和人脸照片都是非结构化视觉数据，需要模型理解图像内容。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857625" y="2767013"/>
            <a:ext cx="714375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等腰三角形 14"/>
          <p:cNvSpPr>
            <a:spLocks noGrp="1"/>
          </p:cNvSpPr>
          <p:nvPr/>
        </p:nvSpPr>
        <p:spPr>
          <a:xfrm>
            <a:off x="4486275" y="270510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686300" y="1809750"/>
            <a:ext cx="2857500" cy="2000250"/>
          </a:xfrm>
          <a:prstGeom prst="rect">
            <a:avLst/>
          </a:prstGeom>
          <a:solidFill>
            <a:srgbClr val="E8F7FA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686300" y="1809750"/>
            <a:ext cx="57150" cy="20002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876800" y="19621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模型提取特征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876800" y="2305050"/>
            <a:ext cx="247650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InsightFace 检测人脸位置，并把人脸转换成 embedding 特征向量。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762875" y="2767013"/>
            <a:ext cx="714375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等腰三角形 20"/>
          <p:cNvSpPr>
            <a:spLocks noGrp="1"/>
          </p:cNvSpPr>
          <p:nvPr/>
        </p:nvSpPr>
        <p:spPr>
          <a:xfrm>
            <a:off x="8391525" y="270510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591550" y="1809750"/>
            <a:ext cx="2857500" cy="2000250"/>
          </a:xfrm>
          <a:prstGeom prst="rect">
            <a:avLst/>
          </a:prstGeom>
          <a:solidFill>
            <a:srgbClr val="EAF8F1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591550" y="1809750"/>
            <a:ext cx="57150" cy="2000250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782050" y="19621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系统做决策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82050" y="2305050"/>
            <a:ext cx="247650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通过余弦相似度和阈值，判断当前人脸是已注册人员还是 Unknown。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38200" y="43815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课程知识对应</a:t>
            </a:r>
            <a:endParaRPr sz="16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57250" y="4857750"/>
            <a:ext cx="1428750" cy="323850"/>
          </a:xfrm>
          <a:prstGeom prst="rect">
            <a:avLst/>
          </a:prstGeom>
          <a:solidFill>
            <a:srgbClr val="E8F7FA"/>
          </a:solidFill>
          <a:ln w="9525">
            <a:solidFill>
              <a:srgbClr val="E8F7F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33450" y="4905375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计算机视觉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476500" y="4857750"/>
            <a:ext cx="1428750" cy="323850"/>
          </a:xfrm>
          <a:prstGeom prst="rect">
            <a:avLst/>
          </a:prstGeom>
          <a:solidFill>
            <a:srgbClr val="EAF3FF"/>
          </a:solidFill>
          <a:ln w="9525">
            <a:solidFill>
              <a:srgbClr val="EAF3F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552700" y="4905375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095750" y="4857750"/>
            <a:ext cx="1428750" cy="323850"/>
          </a:xfrm>
          <a:prstGeom prst="rect">
            <a:avLst/>
          </a:prstGeom>
          <a:solidFill>
            <a:srgbClr val="EAF8F1"/>
          </a:solidFill>
          <a:ln w="9525">
            <a:solidFill>
              <a:srgbClr val="EAF8F1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171950" y="4905375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特征表示</a:t>
            </a:r>
            <a:endParaRPr sz="97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715000" y="4857750"/>
            <a:ext cx="1428750" cy="323850"/>
          </a:xfrm>
          <a:prstGeom prst="rect">
            <a:avLst/>
          </a:prstGeom>
          <a:solidFill>
            <a:srgbClr val="FFF7E8"/>
          </a:solidFill>
          <a:ln w="9525">
            <a:solidFill>
              <a:srgbClr val="FFF7E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791200" y="4905375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相似度计算</a:t>
            </a:r>
            <a:endParaRPr sz="97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334250" y="4857750"/>
            <a:ext cx="1428750" cy="323850"/>
          </a:xfrm>
          <a:prstGeom prst="rect">
            <a:avLst/>
          </a:prstGeom>
          <a:solidFill>
            <a:srgbClr val="FEECEC"/>
          </a:solidFill>
          <a:ln w="9525">
            <a:solidFill>
              <a:srgbClr val="FEECEC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410450" y="4905375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阈值分类</a:t>
            </a:r>
            <a:endParaRPr sz="975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04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 CAPABILITIES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系统覆盖注册、识别、记录和管理四个完整环节。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1657350"/>
            <a:ext cx="171450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1657350"/>
            <a:ext cx="57150" cy="1962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18097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人脸注册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2152650"/>
            <a:ext cx="133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 known_faces/&lt;人名&gt;/ 照片</a:t>
            </a:r>
            <a:endParaRPr sz="9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检测最大人脸</a:t>
            </a:r>
            <a:endParaRPr sz="9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生成平均 embedding</a:t>
            </a:r>
            <a:endParaRPr sz="9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400175" y="3857625"/>
            <a:ext cx="247650" cy="2476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457325" y="388620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00375" y="1657350"/>
            <a:ext cx="1714500" cy="1962150"/>
          </a:xfrm>
          <a:prstGeom prst="rect">
            <a:avLst/>
          </a:prstGeom>
          <a:solidFill>
            <a:srgbClr val="F9FC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000375" y="1657350"/>
            <a:ext cx="57150" cy="19621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190875" y="18097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实时识别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190875" y="2152650"/>
            <a:ext cx="133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打开摄像头</a:t>
            </a:r>
            <a:endParaRPr sz="9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检测当前帧人脸</a:t>
            </a:r>
            <a:endParaRPr sz="9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显示姓名、相似度、FPS</a:t>
            </a:r>
            <a:endParaRPr sz="9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3733800" y="3857625"/>
            <a:ext cx="247650" cy="247650"/>
          </a:xfrm>
          <a:prstGeom prst="ellipse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790950" y="388620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34000" y="1657350"/>
            <a:ext cx="171450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334000" y="1657350"/>
            <a:ext cx="57150" cy="196215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524500" y="18097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Unknown 判断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24500" y="2152650"/>
            <a:ext cx="133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相似度低于阈值</a:t>
            </a:r>
            <a:endParaRPr sz="9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 Unknown</a:t>
            </a:r>
            <a:endParaRPr sz="9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降低误识别风险</a:t>
            </a:r>
            <a:endParaRPr sz="9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6067425" y="3857625"/>
            <a:ext cx="247650" cy="247650"/>
          </a:xfrm>
          <a:prstGeom prst="ellipse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124575" y="388620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67625" y="1657350"/>
            <a:ext cx="1714500" cy="1962150"/>
          </a:xfrm>
          <a:prstGeom prst="rect">
            <a:avLst/>
          </a:prstGeom>
          <a:solidFill>
            <a:srgbClr val="F9FC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667625" y="1657350"/>
            <a:ext cx="57150" cy="1962150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858125" y="18097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后端记录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858125" y="2152650"/>
            <a:ext cx="133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识别结果 POST 到 FastAPI</a:t>
            </a:r>
            <a:endParaRPr sz="9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SQLite 保存姓名、时间、分数</a:t>
            </a:r>
            <a:endParaRPr sz="9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限制重复写入</a:t>
            </a:r>
            <a:endParaRPr sz="9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8401050" y="3857625"/>
            <a:ext cx="247650" cy="247650"/>
          </a:xfrm>
          <a:prstGeom prst="ellipse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458200" y="388620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001250" y="1657350"/>
            <a:ext cx="171450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0001250" y="1657350"/>
            <a:ext cx="57150" cy="19621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0191750" y="18097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网页管理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0191750" y="2152650"/>
            <a:ext cx="133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查看最近识别记录</a:t>
            </a:r>
            <a:endParaRPr sz="9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管理人员与照片</a:t>
            </a:r>
            <a:endParaRPr sz="9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一键重新注册人脸库</a:t>
            </a:r>
            <a:endParaRPr sz="97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椭圆 37"/>
          <p:cNvSpPr>
            <a:spLocks noGrp="1"/>
          </p:cNvSpPr>
          <p:nvPr/>
        </p:nvSpPr>
        <p:spPr>
          <a:xfrm>
            <a:off x="10734675" y="3857625"/>
            <a:ext cx="247650" cy="247650"/>
          </a:xfrm>
          <a:prstGeom prst="ellipse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0791825" y="3886200"/>
            <a:ext cx="15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24000" y="3962400"/>
            <a:ext cx="9334500" cy="38100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457325" y="4338955"/>
            <a:ext cx="4067175" cy="1960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724650" y="4337685"/>
            <a:ext cx="4067175" cy="196215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46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595" y="4497388"/>
            <a:ext cx="3556635" cy="1644015"/>
          </a:xfrm>
          <a:prstGeom prst="rect">
            <a:avLst/>
          </a:prstGeom>
        </p:spPr>
      </p:pic>
      <p:pic>
        <p:nvPicPr>
          <p:cNvPr id="47" name="图片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498" y="4488815"/>
            <a:ext cx="2951480" cy="16598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05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LIVE DEMO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现场演示要证明系统真的能从摄像头产生可追踪的识别记录。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04900" y="2814638"/>
            <a:ext cx="9467850" cy="4762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895350" y="2667000"/>
            <a:ext cx="342900" cy="34290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00125" y="27336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5750" y="3238500"/>
            <a:ext cx="1695450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76250" y="34480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启动网页后端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6250" y="379095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rPr>
              <a:t>scripts\run_backend.bat</a:t>
            </a:r>
            <a:endParaRPr sz="1050" b="0">
              <a:solidFill>
                <a:srgbClr val="587083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3257550" y="2667000"/>
            <a:ext cx="342900" cy="342900"/>
          </a:xfrm>
          <a:prstGeom prst="ellipse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362325" y="27336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647950" y="3238500"/>
            <a:ext cx="1695450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838450" y="34480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打开本地看板</a:t>
            </a:r>
            <a:endParaRPr sz="135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838450" y="379095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rPr>
              <a:t>http://127.0.0.1:8000/</a:t>
            </a:r>
            <a:endParaRPr sz="1050" b="0">
              <a:solidFill>
                <a:srgbClr val="587083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5619750" y="2667000"/>
            <a:ext cx="342900" cy="342900"/>
          </a:xfrm>
          <a:prstGeom prst="ellipse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724525" y="27336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010150" y="3238500"/>
            <a:ext cx="1695450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200650" y="34480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运行摄像头识别</a:t>
            </a:r>
            <a:endParaRPr sz="135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200650" y="379095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87083"/>
                </a:solidFill>
                <a:latin typeface="Aptos Mono"/>
                <a:ea typeface="Aptos Mono"/>
                <a:cs typeface="Aptos Mono"/>
              </a:rPr>
              <a:t>scripts\run_camera.bat</a:t>
            </a:r>
            <a:endParaRPr sz="1050" b="0">
              <a:solidFill>
                <a:srgbClr val="587083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7981950" y="2667000"/>
            <a:ext cx="342900" cy="342900"/>
          </a:xfrm>
          <a:prstGeom prst="ellipse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086725" y="27336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372350" y="3238500"/>
            <a:ext cx="1695450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562850" y="34480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展示识别变化</a:t>
            </a:r>
            <a:endParaRPr sz="13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562850" y="379095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已注册：绿色框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未注册：Unknown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10344150" y="2667000"/>
            <a:ext cx="342900" cy="34290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0448925" y="27336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734550" y="3238500"/>
            <a:ext cx="1695450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925050" y="3448050"/>
            <a:ext cx="131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查看记录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925050" y="379095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网页中出现最新识别日志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06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LIVE DEMO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文本框 35"/>
          <p:cNvSpPr>
            <a:spLocks noGrp="1"/>
          </p:cNvSpPr>
          <p:nvPr/>
        </p:nvSpPr>
        <p:spPr>
          <a:xfrm>
            <a:off x="4979670" y="2767965"/>
            <a:ext cx="223266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</a:t>
            </a:r>
            <a:endParaRPr sz="8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07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ARCHITECTURE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系统分为注册阶段和识别阶段，两条链路共享本地人脸库。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1695450"/>
            <a:ext cx="1200150" cy="304800"/>
          </a:xfrm>
          <a:prstGeom prst="rect">
            <a:avLst/>
          </a:prstGeom>
          <a:solidFill>
            <a:srgbClr val="EAF3FF"/>
          </a:solidFill>
          <a:ln w="9525">
            <a:solidFill>
              <a:srgbClr val="EAF3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174307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注册阶段</a:t>
            </a:r>
            <a:endParaRPr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2238375"/>
            <a:ext cx="1762125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09650" y="2352675"/>
            <a:ext cx="14954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known_faces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09650" y="2657475"/>
            <a:ext cx="1495425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每个人一个文件夹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照片作为注册样本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686050" y="2786063"/>
            <a:ext cx="666750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等腰三角形 15"/>
          <p:cNvSpPr>
            <a:spLocks noGrp="1"/>
          </p:cNvSpPr>
          <p:nvPr/>
        </p:nvSpPr>
        <p:spPr>
          <a:xfrm>
            <a:off x="3267075" y="272415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429000" y="2238375"/>
            <a:ext cx="1809750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562350" y="2352675"/>
            <a:ext cx="1543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InsightFace</a:t>
            </a:r>
            <a:endParaRPr sz="135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562350" y="2657475"/>
            <a:ext cx="15430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检测最大人脸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 normed_embedding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295900" y="2786063"/>
            <a:ext cx="666750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等腰三角形 20"/>
          <p:cNvSpPr>
            <a:spLocks noGrp="1"/>
          </p:cNvSpPr>
          <p:nvPr/>
        </p:nvSpPr>
        <p:spPr>
          <a:xfrm>
            <a:off x="5876925" y="272415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38850" y="2238375"/>
            <a:ext cx="1762125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172200" y="2352675"/>
            <a:ext cx="14954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face_db.npz</a:t>
            </a:r>
            <a:endParaRPr sz="135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172200" y="2657475"/>
            <a:ext cx="1495425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 names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保存平均 embeddings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2950" y="4057650"/>
            <a:ext cx="1200150" cy="304800"/>
          </a:xfrm>
          <a:prstGeom prst="rect">
            <a:avLst/>
          </a:prstGeom>
          <a:solidFill>
            <a:srgbClr val="EAF8F1"/>
          </a:solidFill>
          <a:ln w="9525">
            <a:solidFill>
              <a:srgbClr val="EAF8F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19150" y="410527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识别阶段</a:t>
            </a:r>
            <a:endParaRPr sz="97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76300" y="4629150"/>
            <a:ext cx="161925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09650" y="474345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摄像头帧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09650" y="504825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OpenCV 读取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实时画面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552700" y="5129213"/>
            <a:ext cx="666750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等腰三角形 30"/>
          <p:cNvSpPr>
            <a:spLocks noGrp="1"/>
          </p:cNvSpPr>
          <p:nvPr/>
        </p:nvSpPr>
        <p:spPr>
          <a:xfrm>
            <a:off x="3133725" y="506730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3295650" y="4629150"/>
            <a:ext cx="171450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429000" y="4743450"/>
            <a:ext cx="1447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当前人脸</a:t>
            </a:r>
            <a:endParaRPr sz="135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429000" y="5048250"/>
            <a:ext cx="1447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 bbox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 embedding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067300" y="5129213"/>
            <a:ext cx="666750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等腰三角形 35"/>
          <p:cNvSpPr>
            <a:spLocks noGrp="1"/>
          </p:cNvSpPr>
          <p:nvPr/>
        </p:nvSpPr>
        <p:spPr>
          <a:xfrm>
            <a:off x="5648325" y="506730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810250" y="4629150"/>
            <a:ext cx="180975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943600" y="4743450"/>
            <a:ext cx="1543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相似度匹配</a:t>
            </a:r>
            <a:endParaRPr sz="135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943600" y="5048250"/>
            <a:ext cx="15430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embeddings @ emb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取最大 score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677150" y="5129213"/>
            <a:ext cx="666750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等腰三角形 40"/>
          <p:cNvSpPr>
            <a:spLocks noGrp="1"/>
          </p:cNvSpPr>
          <p:nvPr/>
        </p:nvSpPr>
        <p:spPr>
          <a:xfrm>
            <a:off x="8258175" y="506730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420100" y="4629150"/>
            <a:ext cx="161925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553450" y="474345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阈值判断</a:t>
            </a:r>
            <a:endParaRPr sz="13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553450" y="504825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 &gt;= 0.4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 / Unknown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0096500" y="5129213"/>
            <a:ext cx="590550" cy="28575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等腰三角形 45"/>
          <p:cNvSpPr>
            <a:spLocks noGrp="1"/>
          </p:cNvSpPr>
          <p:nvPr/>
        </p:nvSpPr>
        <p:spPr>
          <a:xfrm>
            <a:off x="10601325" y="5067300"/>
            <a:ext cx="171450" cy="152400"/>
          </a:xfrm>
          <a:prstGeom prst="triangle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0763250" y="4629150"/>
            <a:ext cx="781050" cy="102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0896600" y="474345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0896600" y="5048250"/>
            <a:ext cx="514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看板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900863" y="3371850"/>
            <a:ext cx="28575" cy="628650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6705600" y="3986213"/>
            <a:ext cx="209550" cy="28575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691313" y="4000500"/>
            <a:ext cx="28575" cy="628650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7981950" y="2724150"/>
            <a:ext cx="304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同一个本地人脸库服务两个阶段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981950" y="3238500"/>
            <a:ext cx="31623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注册只需离线完成一次；识别阶段直接加载 embedding，不需要每帧读取原图。</a:t>
            </a:r>
            <a:endParaRPr sz="120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08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CORE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核心不是像素比较，而是把人脸映射到可计算的特征空间。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5257800" y="2543175"/>
            <a:ext cx="1676400" cy="1676400"/>
          </a:xfrm>
          <a:prstGeom prst="ellipse">
            <a:avLst/>
          </a:prstGeom>
          <a:solidFill>
            <a:srgbClr val="EAF3FF"/>
          </a:solidFill>
          <a:ln w="9525">
            <a:solidFill>
              <a:srgbClr val="EAF3FF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5543550" y="2828925"/>
            <a:ext cx="1104900" cy="1104900"/>
          </a:xfrm>
          <a:prstGeom prst="ellipse">
            <a:avLst/>
          </a:prstGeom>
          <a:solidFill>
            <a:srgbClr val="D9ECFF"/>
          </a:solidFill>
          <a:ln w="9525">
            <a:solidFill>
              <a:srgbClr val="D9EC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572125" y="3009900"/>
            <a:ext cx="1047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特征向量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333625" y="2000250"/>
            <a:ext cx="190500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2381250" y="2047875"/>
            <a:ext cx="247650" cy="2476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438400" y="2066925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733675" y="21336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人脸检测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486025" y="2419350"/>
            <a:ext cx="1600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先定位画面中的人脸 bbox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953000" y="1571625"/>
            <a:ext cx="190500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5000625" y="1619250"/>
            <a:ext cx="247650" cy="247650"/>
          </a:xfrm>
          <a:prstGeom prst="ellipse">
            <a:avLst/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057775" y="1638300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53050" y="170497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</a:t>
            </a:r>
            <a:endParaRPr sz="135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05400" y="1990725"/>
            <a:ext cx="1600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模型自动学习人脸结构特征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77125" y="2000250"/>
            <a:ext cx="190500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7524750" y="2047875"/>
            <a:ext cx="247650" cy="247650"/>
          </a:xfrm>
          <a:prstGeom prst="ellipse">
            <a:avLst/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581900" y="2066925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77175" y="21336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特征表示</a:t>
            </a:r>
            <a:endParaRPr sz="135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29525" y="2419350"/>
            <a:ext cx="1600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一张脸变成 512 维向量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524750" y="4238625"/>
            <a:ext cx="190500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7572375" y="4286250"/>
            <a:ext cx="247650" cy="247650"/>
          </a:xfrm>
          <a:prstGeom prst="ellipse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629525" y="4305300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924800" y="437197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相似度度量</a:t>
            </a:r>
            <a:endParaRPr sz="13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677150" y="4657725"/>
            <a:ext cx="1600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用余弦相似度比较向量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953000" y="4810125"/>
            <a:ext cx="190500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5000625" y="4857750"/>
            <a:ext cx="247650" cy="247650"/>
          </a:xfrm>
          <a:prstGeom prst="ellipse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057775" y="4876800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353050" y="494347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阈值分类</a:t>
            </a:r>
            <a:endParaRPr sz="13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105400" y="5229225"/>
            <a:ext cx="1600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 &gt;= 0.4 才识别成功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238375" y="4238625"/>
            <a:ext cx="190500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102033"/>
            </a:solidFill>
            <a:prstDash val="solid"/>
          </a:ln>
        </p:spPr>
      </p:sp>
      <p:sp>
        <p:nvSpPr>
          <p:cNvPr id="39" name="椭圆 38"/>
          <p:cNvSpPr>
            <a:spLocks noGrp="1"/>
          </p:cNvSpPr>
          <p:nvPr/>
        </p:nvSpPr>
        <p:spPr>
          <a:xfrm>
            <a:off x="2286000" y="4286250"/>
            <a:ext cx="247650" cy="247650"/>
          </a:xfrm>
          <a:prstGeom prst="ellipse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343150" y="4305300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638425" y="437197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数据与隐私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390775" y="4657725"/>
            <a:ext cx="1600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照片、特征库、日志都应本地保护</a:t>
            </a:r>
            <a:endParaRPr sz="10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324350" y="5772150"/>
            <a:ext cx="3543300" cy="323850"/>
          </a:xfrm>
          <a:prstGeom prst="rect">
            <a:avLst/>
          </a:prstGeom>
          <a:solidFill>
            <a:srgbClr val="EAF8F1"/>
          </a:solidFill>
          <a:ln w="9525">
            <a:solidFill>
              <a:srgbClr val="EAF8F1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4400550" y="5819775"/>
            <a:ext cx="3390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答辩金句：embedding 是模型生成的“数字身份证”</a:t>
            </a:r>
            <a:endParaRPr sz="97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09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DECISION RULE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识别结果来自最近向量匹配，再经过阈值做二分类决策。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1809750"/>
            <a:ext cx="4762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20955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相似度计算</a:t>
            </a:r>
            <a:endParaRPr sz="17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609850"/>
            <a:ext cx="400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sims = embeddings @ emb</a:t>
            </a:r>
            <a:endParaRPr sz="225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3257550"/>
            <a:ext cx="3714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因为使用的是 normed_embedding，点积可以直接作为余弦相似度。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40005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选择最高分：max(score)</a:t>
            </a:r>
            <a:endParaRPr sz="157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86500" y="1809750"/>
            <a:ext cx="4857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572250" y="209550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阈值判断</a:t>
            </a:r>
            <a:endParaRPr sz="17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0" y="3352800"/>
            <a:ext cx="3505200" cy="76200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58000" y="3352800"/>
            <a:ext cx="1524000" cy="7620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382000" y="3352800"/>
            <a:ext cx="1981200" cy="76200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8248650" y="3257550"/>
            <a:ext cx="266700" cy="266700"/>
          </a:xfrm>
          <a:prstGeom prst="ellipse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762750" y="3638550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0</a:t>
            </a:r>
            <a:endParaRPr sz="1200" b="0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715250" y="37338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THRESHOLD = 0.4</a:t>
            </a:r>
            <a:endParaRPr sz="14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287000" y="3638550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1</a:t>
            </a:r>
            <a:endParaRPr sz="1200" b="0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00875" y="29527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Unknown</a:t>
            </a:r>
            <a:endParaRPr sz="15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163050" y="29527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Recognized</a:t>
            </a:r>
            <a:endParaRPr sz="15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28395" y="5177155"/>
            <a:ext cx="29527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66800" y="5095875"/>
            <a:ext cx="57150" cy="80010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257300" y="5248275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阈值调高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257300" y="5591175"/>
            <a:ext cx="2572385" cy="2305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更严格，误识别减少，但熟人可能变Unknown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629150" y="5177155"/>
            <a:ext cx="29527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629150" y="5095875"/>
            <a:ext cx="57150" cy="8001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819650" y="5248275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阈值调低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819650" y="5591175"/>
            <a:ext cx="276288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更宽松，漏识别减少，但误识别风险增加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191500" y="5177155"/>
            <a:ext cx="29527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191500" y="5095875"/>
            <a:ext cx="57150" cy="800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382000" y="5248275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课程联系</a:t>
            </a:r>
            <a:endParaRPr sz="142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382000" y="5591175"/>
            <a:ext cx="2571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体现精确率、召回率和分类决策的权衡</a:t>
            </a:r>
            <a:endParaRPr sz="11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10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IMPLEMENTATION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项目把模型推理、图像处理、接口服务和网页展示集成成可运行系统。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1762125"/>
            <a:ext cx="52387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189547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前端网页</a:t>
            </a:r>
            <a:endParaRPr sz="14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81250" y="1895475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backend/static/index.html + style.css + app.js</a:t>
            </a:r>
            <a:endParaRPr sz="1200" b="0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9150" y="2447925"/>
            <a:ext cx="5238750" cy="514350"/>
          </a:xfrm>
          <a:prstGeom prst="rect">
            <a:avLst/>
          </a:prstGeom>
          <a:solidFill>
            <a:srgbClr val="F9FC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258127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后端接口</a:t>
            </a:r>
            <a:endParaRPr sz="142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381250" y="2581275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FastAPI routes + SQLite recognition.db</a:t>
            </a:r>
            <a:endParaRPr sz="1200" b="0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9150" y="3133725"/>
            <a:ext cx="52387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66800" y="326707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识别程序</a:t>
            </a:r>
            <a:endParaRPr sz="142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381250" y="3267075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face_recog.py: register / run</a:t>
            </a:r>
            <a:endParaRPr sz="1200" b="0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19150" y="3819525"/>
            <a:ext cx="5238750" cy="514350"/>
          </a:xfrm>
          <a:prstGeom prst="rect">
            <a:avLst/>
          </a:prstGeom>
          <a:solidFill>
            <a:srgbClr val="F9FC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395287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图像处理</a:t>
            </a:r>
            <a:endParaRPr sz="142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381250" y="3952875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OpenCV 摄像头、画框、截图；Pillow 中文渲染</a:t>
            </a:r>
            <a:endParaRPr sz="1200" b="0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9150" y="4505325"/>
            <a:ext cx="523875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66800" y="4638675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模型</a:t>
            </a:r>
            <a:endParaRPr sz="1425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381250" y="4638675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8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3"/>
                </a:solidFill>
                <a:latin typeface="Aptos"/>
                <a:ea typeface="Aptos"/>
                <a:cs typeface="Aptos"/>
              </a:rPr>
              <a:t>InsightFace buffalo_sc + ONNXRuntime CPU</a:t>
            </a:r>
            <a:endParaRPr sz="1200" b="0">
              <a:solidFill>
                <a:srgbClr val="58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0" y="1762125"/>
            <a:ext cx="4191000" cy="3105150"/>
          </a:xfrm>
          <a:prstGeom prst="rect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105650" y="20193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关键配置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105650" y="2457450"/>
            <a:ext cx="3619500" cy="25615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def get_app():</a:t>
            </a:r>
            <a:endParaRPr sz="1125" b="0">
              <a:solidFill>
                <a:srgbClr val="DDEBFF"/>
              </a:solidFill>
              <a:latin typeface="Aptos Mono"/>
              <a:ea typeface="Aptos Mono"/>
              <a:cs typeface="Aptos Mono"/>
            </a:endParaRPr>
          </a:p>
          <a:p>
            <a:pPr algn="l">
              <a:buNone/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    global APP</a:t>
            </a:r>
            <a:endParaRPr sz="1125" b="0">
              <a:solidFill>
                <a:srgbClr val="DDEBFF"/>
              </a:solidFill>
              <a:latin typeface="Aptos Mono"/>
              <a:ea typeface="Aptos Mono"/>
              <a:cs typeface="Aptos Mono"/>
            </a:endParaRPr>
          </a:p>
          <a:p>
            <a:pPr algn="l">
              <a:buNone/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    if APP is None:</a:t>
            </a:r>
            <a:endParaRPr sz="1125" b="0">
              <a:solidFill>
                <a:srgbClr val="DDEBFF"/>
              </a:solidFill>
              <a:latin typeface="Aptos Mono"/>
              <a:ea typeface="Aptos Mono"/>
              <a:cs typeface="Aptos Mono"/>
            </a:endParaRPr>
          </a:p>
          <a:p>
            <a:pPr algn="l">
              <a:buNone/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        APP = FaceAnalysis(</a:t>
            </a:r>
            <a:endParaRPr sz="1125" b="0">
              <a:solidFill>
                <a:srgbClr val="DDEBFF"/>
              </a:solidFill>
              <a:latin typeface="Aptos Mono"/>
              <a:ea typeface="Aptos Mono"/>
              <a:cs typeface="Aptos Mono"/>
            </a:endParaRPr>
          </a:p>
          <a:p>
            <a:pPr algn="l">
              <a:buNone/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            name="buffalo_sc",                </a:t>
            </a:r>
            <a:endParaRPr sz="1125" b="0">
              <a:solidFill>
                <a:srgbClr val="DDEBFF"/>
              </a:solidFill>
              <a:latin typeface="Aptos Mono"/>
              <a:ea typeface="Aptos Mono"/>
              <a:cs typeface="Aptos Mono"/>
            </a:endParaRPr>
          </a:p>
          <a:p>
            <a:pPr algn="l">
              <a:buNone/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            root=ROOT,</a:t>
            </a:r>
            <a:endParaRPr sz="1125" b="0">
              <a:solidFill>
                <a:srgbClr val="DDEBFF"/>
              </a:solidFill>
              <a:latin typeface="Aptos Mono"/>
              <a:ea typeface="Aptos Mono"/>
              <a:cs typeface="Aptos Mono"/>
            </a:endParaRPr>
          </a:p>
          <a:p>
            <a:pPr algn="l">
              <a:buNone/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               providers=["CPUExecutionProvider"], allowed_modules=["detection", "recognition"],)</a:t>
            </a:r>
            <a:endParaRPr sz="1125" b="0">
              <a:solidFill>
                <a:srgbClr val="DDEBFF"/>
              </a:solidFill>
              <a:latin typeface="Aptos Mono"/>
              <a:ea typeface="Aptos Mono"/>
              <a:cs typeface="Aptos Mono"/>
            </a:endParaRPr>
          </a:p>
          <a:p>
            <a:pPr algn="l">
              <a:buNone/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 APP.prepare(ctx_id=0, det_size=(320, 320))</a:t>
            </a:r>
            <a:endParaRPr sz="1125" b="0">
              <a:solidFill>
                <a:srgbClr val="DDEBFF"/>
              </a:solidFill>
              <a:latin typeface="Aptos Mono"/>
              <a:ea typeface="Aptos Mono"/>
              <a:cs typeface="Aptos Mono"/>
            </a:endParaRPr>
          </a:p>
          <a:p>
            <a:pPr algn="l">
              <a:buNone/>
              <a:def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    return APP</a:t>
            </a:r>
            <a:endParaRPr sz="1125" b="0">
              <a:solidFill>
                <a:srgbClr val="DDEBFF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57900" y="3476625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107906" y="3531989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157913" y="3587353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207919" y="3642717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257925" y="3698081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307931" y="3753445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357938" y="3808809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407944" y="3864173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457950" y="3919538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507956" y="3974902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557963" y="4030266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607969" y="4085630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657975" y="4140994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707981" y="4196358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757988" y="4251722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807994" y="4307086"/>
            <a:ext cx="78581" cy="83939"/>
          </a:xfrm>
          <a:prstGeom prst="rect">
            <a:avLst/>
          </a:prstGeom>
          <a:solidFill>
            <a:srgbClr val="C9D8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848600" y="5429250"/>
            <a:ext cx="2190750" cy="342900"/>
          </a:xfrm>
          <a:prstGeom prst="rect">
            <a:avLst/>
          </a:prstGeom>
          <a:solidFill>
            <a:srgbClr val="EAF8F1"/>
          </a:solidFill>
          <a:ln w="9525">
            <a:solidFill>
              <a:srgbClr val="EAF8F1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7924800" y="5476875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 + 工程 = 可用 AI 系统</a:t>
            </a:r>
            <a:endParaRPr sz="975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11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ROADMAP</a:t>
            </a:r>
            <a:endParaRPr sz="97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后续可提升</a:t>
            </a:r>
            <a:r>
              <a:rPr sz="24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</a:t>
            </a:r>
            <a:endParaRPr sz="2475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1809750"/>
            <a:ext cx="10096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52550" y="20764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当前不足</a:t>
            </a:r>
            <a:endParaRPr sz="16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19800" y="20764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后续改进</a:t>
            </a:r>
            <a:endParaRPr sz="165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28750" y="25527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实时性能有限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19800" y="2552700"/>
            <a:ext cx="428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 GPU / DirectML / CUDA，或降低检测频率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38250" y="2933700"/>
            <a:ext cx="9715500" cy="9525"/>
          </a:xfrm>
          <a:prstGeom prst="rect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428750" y="30480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注册样本较少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19800" y="3048000"/>
            <a:ext cx="428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增加不同光照、角度和表情的样本照片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38250" y="3429000"/>
            <a:ext cx="9715500" cy="9525"/>
          </a:xfrm>
          <a:prstGeom prst="rect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428750" y="35433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阈值固定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19800" y="3543300"/>
            <a:ext cx="428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构建验证集，自动选择更合适的阈值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238250" y="3924300"/>
            <a:ext cx="9715500" cy="9525"/>
          </a:xfrm>
          <a:prstGeom prst="rect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428750" y="40386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未做活体检测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19800" y="4038600"/>
            <a:ext cx="428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加入眨眼、动作或深度信息，降低照片攻击风险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238250" y="4419600"/>
            <a:ext cx="9715500" cy="9525"/>
          </a:xfrm>
          <a:prstGeom prst="rect">
            <a:avLst/>
          </a:prstGeom>
          <a:solidFill>
            <a:srgbClr val="C9D8E6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28750" y="45339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单机本地演示</a:t>
            </a:r>
            <a:endParaRPr sz="135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19800" y="4533900"/>
            <a:ext cx="428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扩展多摄像头或局域网部署能力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428750" y="5619750"/>
            <a:ext cx="9334500" cy="495300"/>
          </a:xfrm>
          <a:prstGeom prst="rect">
            <a:avLst/>
          </a:prstGeom>
          <a:solidFill>
            <a:srgbClr val="EAF3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695450" y="5753100"/>
            <a:ext cx="8810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我们完成了从 AI 模型推理到本地应用系统的闭环，也清楚知道后续可以如何继续优化。</a:t>
            </a:r>
            <a:endParaRPr sz="150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96050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人工智能基础期末项目 | 基于 InsightFace 的本地实时人脸识别系统</a:t>
            </a:r>
            <a:endParaRPr sz="825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438900"/>
            <a:ext cx="514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12</a:t>
            </a:r>
            <a:endParaRPr sz="1125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19100"/>
            <a:ext cx="285750" cy="47625"/>
          </a:xfrm>
          <a:prstGeom prst="rect">
            <a:avLst/>
          </a:prstGeom>
          <a:solidFill>
            <a:srgbClr val="0891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ENDING</a:t>
            </a:r>
            <a:endParaRPr sz="975" b="1">
              <a:solidFill>
                <a:srgbClr val="0891B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85800"/>
            <a:ext cx="9715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</a:t>
            </a:r>
            <a:endParaRPr sz="360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228850"/>
            <a:ext cx="5334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本项目展示了从图像输入、深度学习特征提取、向量相似度匹配到本地应用系统落地的完整闭环。</a:t>
            </a:r>
            <a:endParaRPr sz="16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39000" y="1200150"/>
            <a:ext cx="3429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981950" y="1752600"/>
            <a:ext cx="1943100" cy="1390650"/>
          </a:xfrm>
          <a:prstGeom prst="rect">
            <a:avLst/>
          </a:prstGeom>
          <a:solidFill>
            <a:srgbClr val="EDF5FF"/>
          </a:solidFill>
          <a:ln w="19050">
            <a:solidFill>
              <a:srgbClr val="C9D8E6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8601075" y="1981200"/>
            <a:ext cx="704850" cy="704850"/>
          </a:xfrm>
          <a:prstGeom prst="ellipse">
            <a:avLst/>
          </a:prstGeom>
          <a:solidFill>
            <a:srgbClr val="D7E9FF"/>
          </a:solidFill>
          <a:ln w="9525">
            <a:solidFill>
              <a:srgbClr val="D7E9FF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810625" y="2219325"/>
            <a:ext cx="95250" cy="95250"/>
          </a:xfrm>
          <a:prstGeom prst="ellipse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001125" y="2219325"/>
            <a:ext cx="95250" cy="95250"/>
          </a:xfrm>
          <a:prstGeom prst="ellipse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820150" y="2495550"/>
            <a:ext cx="266700" cy="28575"/>
          </a:xfrm>
          <a:prstGeom prst="rect">
            <a:avLst/>
          </a:prstGeom>
          <a:solidFill>
            <a:srgbClr val="0596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772400" y="3333750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Face Recognition Demo</a:t>
            </a:r>
            <a:endParaRPr sz="1650" b="1">
              <a:solidFill>
                <a:srgbClr val="10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3695700"/>
            <a:ext cx="51054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E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24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项目回顾</a:t>
            </a:r>
            <a:endParaRPr sz="1500" b="1">
              <a:solidFill>
                <a:srgbClr val="10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4324350"/>
            <a:ext cx="44767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使用 InsightFace 完成人脸检测与特征提取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使用 embedding 与余弦相似度进行身份匹配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通过 FastAPI + SQLite + 网页看板完成本地记录展示</a:t>
            </a:r>
            <a:endParaRPr sz="1350" b="0">
              <a:solidFill>
                <a:srgbClr val="58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3121</Words>
  <Application>WPS 演示</Application>
  <PresentationFormat>Converted Presentation</PresentationFormat>
  <Paragraphs>412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Aptos</vt:lpstr>
      <vt:lpstr>Segoe UI</vt:lpstr>
      <vt:lpstr>黑体</vt:lpstr>
      <vt:lpstr>Aptos Mono</vt:lpstr>
      <vt:lpstr>Arial Unicode MS</vt:lpstr>
      <vt:lpstr>Calibri</vt:lpstr>
      <vt:lpstr>Cascadia Mono SemiLight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WPS_1601823620</cp:lastModifiedBy>
  <cp:revision>2</cp:revision>
  <dcterms:created xsi:type="dcterms:W3CDTF">2026-06-10T01:40:50Z</dcterms:created>
  <dcterms:modified xsi:type="dcterms:W3CDTF">2026-06-10T01:40:56Z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807504C162364D07AA95EECBC31217E4_12</vt:lpwstr>
  </property>
  <property fmtid="{D5CDD505-2E9C-101B-9397-08002B2CF9AE}" pid="3" name="KSOProductBuildVer">
    <vt:lpwstr>2052-12.1.0.26375</vt:lpwstr>
  </property>
</Properties>
</file>